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99393f170c4dc4" /><Relationship Type="http://schemas.openxmlformats.org/officeDocument/2006/relationships/extended-properties" Target="/docProps/app.xml" Id="Rab8c1e409b4e4d1d" /><Relationship Type="http://schemas.openxmlformats.org/officeDocument/2006/relationships/officeDocument" Target="/ppt/presentation.xml" Id="Rf21184cd0be143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080d198e6c4d9b"/>
  </p:sldMasterIdLst>
  <p:notesMasterIdLst>
    <p:notesMasterId xmlns:r="http://schemas.openxmlformats.org/officeDocument/2006/relationships" r:id="R78dc077352d1411f"/>
  </p:notesMasterIdLst>
  <p:sldIdLst>
    <p:sldId xmlns:r="http://schemas.openxmlformats.org/officeDocument/2006/relationships" id="256" r:id="R5908e15d2a584648"/>
    <p:sldId xmlns:r="http://schemas.openxmlformats.org/officeDocument/2006/relationships" id="257" r:id="Rb500adafb91d405f"/>
    <p:sldId xmlns:r="http://schemas.openxmlformats.org/officeDocument/2006/relationships" id="258" r:id="Rd6c91738e8754f8b"/>
    <p:sldId xmlns:r="http://schemas.openxmlformats.org/officeDocument/2006/relationships" id="259" r:id="R2a761090476c48a0"/>
    <p:sldId xmlns:r="http://schemas.openxmlformats.org/officeDocument/2006/relationships" id="260" r:id="R8fe1d017c8394450"/>
    <p:sldId xmlns:r="http://schemas.openxmlformats.org/officeDocument/2006/relationships" id="261" r:id="Ra71a70a16b274ea8"/>
    <p:sldId xmlns:r="http://schemas.openxmlformats.org/officeDocument/2006/relationships" id="262" r:id="R149b736371f547e8"/>
    <p:sldId xmlns:r="http://schemas.openxmlformats.org/officeDocument/2006/relationships" id="263" r:id="Rd201cadd60324bc8"/>
    <p:sldId xmlns:r="http://schemas.openxmlformats.org/officeDocument/2006/relationships" id="264" r:id="R677391cdd8f44e2e"/>
    <p:sldId xmlns:r="http://schemas.openxmlformats.org/officeDocument/2006/relationships" id="265" r:id="R2b782d918f484db9"/>
    <p:sldId xmlns:r="http://schemas.openxmlformats.org/officeDocument/2006/relationships" id="266" r:id="Ra601741d26a8402e"/>
    <p:sldId xmlns:r="http://schemas.openxmlformats.org/officeDocument/2006/relationships" id="267" r:id="R6958d1679b034b43"/>
    <p:sldId xmlns:r="http://schemas.openxmlformats.org/officeDocument/2006/relationships" id="268" r:id="R0dce1694854545fb"/>
    <p:sldId xmlns:r="http://schemas.openxmlformats.org/officeDocument/2006/relationships" id="269" r:id="R272fd1e81a504e01"/>
    <p:sldId xmlns:r="http://schemas.openxmlformats.org/officeDocument/2006/relationships" id="270" r:id="R20bbacc302054a7d"/>
    <p:sldId xmlns:r="http://schemas.openxmlformats.org/officeDocument/2006/relationships" id="271" r:id="R50c5c3c1b2b54b25"/>
    <p:sldId xmlns:r="http://schemas.openxmlformats.org/officeDocument/2006/relationships" id="272" r:id="R46c6d03376344d52"/>
    <p:sldId xmlns:r="http://schemas.openxmlformats.org/officeDocument/2006/relationships" id="273" r:id="R3f58c32047204ab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65cc1a2b504488" /><Relationship Type="http://schemas.openxmlformats.org/officeDocument/2006/relationships/slideMaster" Target="/ppt/slideMasters/slideMaster1.xml" Id="R48080d198e6c4d9b" /><Relationship Type="http://schemas.openxmlformats.org/officeDocument/2006/relationships/notesMaster" Target="/ppt/notesMasters/notesMaster1.xml" Id="R78dc077352d1411f" /><Relationship Type="http://schemas.openxmlformats.org/officeDocument/2006/relationships/presProps" Target="/ppt/presProps.xml" Id="R22826bda3df9437c" /><Relationship Type="http://schemas.openxmlformats.org/officeDocument/2006/relationships/tableStyles" Target="/ppt/tableStyles.xml" Id="Rc952dd23f0814f95" /><Relationship Type="http://schemas.openxmlformats.org/officeDocument/2006/relationships/slide" Target="/ppt/slides/slide1.xml" Id="R5908e15d2a584648" /><Relationship Type="http://schemas.openxmlformats.org/officeDocument/2006/relationships/slide" Target="/ppt/slides/slide2.xml" Id="Rb500adafb91d405f" /><Relationship Type="http://schemas.openxmlformats.org/officeDocument/2006/relationships/slide" Target="/ppt/slides/slide3.xml" Id="Rd6c91738e8754f8b" /><Relationship Type="http://schemas.openxmlformats.org/officeDocument/2006/relationships/slide" Target="/ppt/slides/slide4.xml" Id="R2a761090476c48a0" /><Relationship Type="http://schemas.openxmlformats.org/officeDocument/2006/relationships/slide" Target="/ppt/slides/slide5.xml" Id="R8fe1d017c8394450" /><Relationship Type="http://schemas.openxmlformats.org/officeDocument/2006/relationships/slide" Target="/ppt/slides/slide6.xml" Id="Ra71a70a16b274ea8" /><Relationship Type="http://schemas.openxmlformats.org/officeDocument/2006/relationships/slide" Target="/ppt/slides/slide7.xml" Id="R149b736371f547e8" /><Relationship Type="http://schemas.openxmlformats.org/officeDocument/2006/relationships/slide" Target="/ppt/slides/slide8.xml" Id="Rd201cadd60324bc8" /><Relationship Type="http://schemas.openxmlformats.org/officeDocument/2006/relationships/slide" Target="/ppt/slides/slide9.xml" Id="R677391cdd8f44e2e" /><Relationship Type="http://schemas.openxmlformats.org/officeDocument/2006/relationships/slide" Target="/ppt/slides/slide10.xml" Id="R2b782d918f484db9" /><Relationship Type="http://schemas.openxmlformats.org/officeDocument/2006/relationships/slide" Target="/ppt/slides/slide11.xml" Id="Ra601741d26a8402e" /><Relationship Type="http://schemas.openxmlformats.org/officeDocument/2006/relationships/slide" Target="/ppt/slides/slide12.xml" Id="R6958d1679b034b43" /><Relationship Type="http://schemas.openxmlformats.org/officeDocument/2006/relationships/slide" Target="/ppt/slides/slide13.xml" Id="R0dce1694854545fb" /><Relationship Type="http://schemas.openxmlformats.org/officeDocument/2006/relationships/slide" Target="/ppt/slides/slide14.xml" Id="R272fd1e81a504e01" /><Relationship Type="http://schemas.openxmlformats.org/officeDocument/2006/relationships/slide" Target="/ppt/slides/slide15.xml" Id="R20bbacc302054a7d" /><Relationship Type="http://schemas.openxmlformats.org/officeDocument/2006/relationships/slide" Target="/ppt/slides/slide16.xml" Id="R50c5c3c1b2b54b25" /><Relationship Type="http://schemas.openxmlformats.org/officeDocument/2006/relationships/slide" Target="/ppt/slides/slide17.xml" Id="R46c6d03376344d52" /><Relationship Type="http://schemas.openxmlformats.org/officeDocument/2006/relationships/slide" Target="/ppt/slides/slide18.xml" Id="R3f58c32047204a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a7e91227ca41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776b1fb7cd40e2" /><Relationship Type="http://schemas.openxmlformats.org/officeDocument/2006/relationships/notesMaster" Target="/ppt/notesMasters/notesMaster1.xml" Id="R8e28d12d9e994d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bababbb0934b61" /><Relationship Type="http://schemas.openxmlformats.org/officeDocument/2006/relationships/notesMaster" Target="/ppt/notesMasters/notesMaster1.xml" Id="R627fc27ed90442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6f90ed706a4cc2" /><Relationship Type="http://schemas.openxmlformats.org/officeDocument/2006/relationships/notesMaster" Target="/ppt/notesMasters/notesMaster1.xml" Id="R91ccd6b69fba41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f362280fef4cf3" /><Relationship Type="http://schemas.openxmlformats.org/officeDocument/2006/relationships/notesMaster" Target="/ppt/notesMasters/notesMaster1.xml" Id="R514152d058a246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58c142db42419d" /><Relationship Type="http://schemas.openxmlformats.org/officeDocument/2006/relationships/notesMaster" Target="/ppt/notesMasters/notesMaster1.xml" Id="R0bce5ea40cba44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1eeba6eb184fc5" /><Relationship Type="http://schemas.openxmlformats.org/officeDocument/2006/relationships/notesMaster" Target="/ppt/notesMasters/notesMaster1.xml" Id="R240ee7f4c6be45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3e9fe93afa40aa" /><Relationship Type="http://schemas.openxmlformats.org/officeDocument/2006/relationships/notesMaster" Target="/ppt/notesMasters/notesMaster1.xml" Id="Rf03e9eb4a14d4a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b48b65975d462b" /><Relationship Type="http://schemas.openxmlformats.org/officeDocument/2006/relationships/notesMaster" Target="/ppt/notesMasters/notesMaster1.xml" Id="R458792a7a17f473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0e9a5466c6e4a0b" /><Relationship Type="http://schemas.openxmlformats.org/officeDocument/2006/relationships/notesMaster" Target="/ppt/notesMasters/notesMaster1.xml" Id="R1a68e9b27304405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2757d0579744ed" /><Relationship Type="http://schemas.openxmlformats.org/officeDocument/2006/relationships/notesMaster" Target="/ppt/notesMasters/notesMaster1.xml" Id="Rf46ca1afdc5949f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0e97654495d4604" /><Relationship Type="http://schemas.openxmlformats.org/officeDocument/2006/relationships/notesMaster" Target="/ppt/notesMasters/notesMaster1.xml" Id="R7f2e8c990c6c43d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9cc7de7c8124e5f" /><Relationship Type="http://schemas.openxmlformats.org/officeDocument/2006/relationships/notesMaster" Target="/ppt/notesMasters/notesMaster1.xml" Id="Rfe94b58ffea04f4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290df20aa5d432f" /><Relationship Type="http://schemas.openxmlformats.org/officeDocument/2006/relationships/notesMaster" Target="/ppt/notesMasters/notesMaster1.xml" Id="Rab150735e46642c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898372d842d44d2" /><Relationship Type="http://schemas.openxmlformats.org/officeDocument/2006/relationships/notesMaster" Target="/ppt/notesMasters/notesMaster1.xml" Id="Rd65de82f1d764f4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8491fd8e6de4c0c" /><Relationship Type="http://schemas.openxmlformats.org/officeDocument/2006/relationships/notesMaster" Target="/ppt/notesMasters/notesMaster1.xml" Id="R2fa54bbf446643f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ddbe994cb6a4382" /><Relationship Type="http://schemas.openxmlformats.org/officeDocument/2006/relationships/notesMaster" Target="/ppt/notesMasters/notesMaster1.xml" Id="R0312eb4887114d7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ccffa9b796943f5" /><Relationship Type="http://schemas.openxmlformats.org/officeDocument/2006/relationships/notesMaster" Target="/ppt/notesMasters/notesMaster1.xml" Id="R5a8735e50ff4445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9ff20ea372840d1" /><Relationship Type="http://schemas.openxmlformats.org/officeDocument/2006/relationships/notesMaster" Target="/ppt/notesMasters/notesMaster1.xml" Id="R1eb7adca833949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- 001_設定資料/00_INDEX.md</a:t>
            </a:r>
          </a:p>
          <a:p xmlns:a="http://schemas.openxmlformats.org/drawingml/2006/main">
            <a:r>
              <a:t>- 001_設定資料/11_Producer_Direction.md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- 001_設定資料/09_Game_Rules.md</a:t>
            </a:r>
          </a:p>
          <a:p xmlns:a="http://schemas.openxmlformats.org/drawingml/2006/main">
            <a:r>
              <a:t>- 001_設定資料/11_Producer_Direction.md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- 001_設定資料/01_Story_20_Chapters.md</a:t>
            </a:r>
          </a:p>
          <a:p xmlns:a="http://schemas.openxmlformats.org/drawingml/2006/main">
            <a:r>
              <a:t>- 001_設定資料/00_INDEX.md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- 001_設定資料/00_INDEX.md</a:t>
            </a:r>
          </a:p>
          <a:p xmlns:a="http://schemas.openxmlformats.org/drawingml/2006/main">
            <a:r>
              <a:t>- 001_設定資料/11_Producer_Direction.md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- 001_設定資料/09_Game_Rules.md</a:t>
            </a:r>
          </a:p>
          <a:p xmlns:a="http://schemas.openxmlformats.org/drawingml/2006/main">
            <a:r>
              <a:t>- 001_設定資料/06_Loot_and_Items.md</a:t>
            </a:r>
          </a:p>
          <a:p xmlns:a="http://schemas.openxmlformats.org/drawingml/2006/main">
            <a:r>
              <a:t>- 001_設定資料/11_Producer_Direction.md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- 001_設定資料/09_Game_Rules.md</a:t>
            </a:r>
          </a:p>
          <a:p xmlns:a="http://schemas.openxmlformats.org/drawingml/2006/main">
            <a:r>
              <a:t>- 001_設定資料/04_Weapons.md</a:t>
            </a:r>
          </a:p>
          <a:p xmlns:a="http://schemas.openxmlformats.org/drawingml/2006/main">
            <a:r>
              <a:t>- 001_設定資料/05_Equipment.md</a:t>
            </a:r>
          </a:p>
          <a:p xmlns:a="http://schemas.openxmlformats.org/drawingml/2006/main">
            <a:r>
              <a:t>- 001_設定資料/06_Loot_and_Items.md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- 001_設定資料/07_Player_Stats.md</a:t>
            </a:r>
          </a:p>
          <a:p xmlns:a="http://schemas.openxmlformats.org/drawingml/2006/main">
            <a:r>
              <a:t>- 001_設定資料/08_Weapon_Stats.md</a:t>
            </a:r>
          </a:p>
          <a:p xmlns:a="http://schemas.openxmlformats.org/drawingml/2006/main">
            <a:r>
              <a:t>- 001_設定資料/09_Game_Rules.md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- 001_設定資料/09_Game_Rules.md</a:t>
            </a:r>
          </a:p>
          <a:p xmlns:a="http://schemas.openxmlformats.org/drawingml/2006/main">
            <a:r>
              <a:t>- 001_設定資料/10_Fields.md</a:t>
            </a:r>
          </a:p>
          <a:p xmlns:a="http://schemas.openxmlformats.org/drawingml/2006/main">
            <a:r>
              <a:t>- 001_設定資料/11_Producer_Direction.md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- 001_設定資料/09_Game_Rules.md</a:t>
            </a:r>
          </a:p>
          <a:p xmlns:a="http://schemas.openxmlformats.org/drawingml/2006/main">
            <a:r>
              <a:t>- 001_設定資料/11_Producer_Direction.md</a:t>
            </a:r>
          </a:p>
          <a:p xmlns:a="http://schemas.openxmlformats.org/drawingml/2006/main">
            <a:r>
              <a:t>- 001_設定資料/12_ID_and_Terminology.md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Unity LTS / URP / C# is the technical lead's proposed baseline, not an externally sourced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- 001_設定資料/DOCUMENT_REVIEW_SUMMARY.md</a:t>
            </a:r>
          </a:p>
          <a:p xmlns:a="http://schemas.openxmlformats.org/drawingml/2006/main">
            <a:r>
              <a:t>- 001_設定資料/06_Loot_and_Items.md</a:t>
            </a:r>
          </a:p>
          <a:p xmlns:a="http://schemas.openxmlformats.org/drawingml/2006/main">
            <a:r>
              <a:t>- 001_設定資料/08_Weapon_Stats.md</a:t>
            </a:r>
          </a:p>
          <a:p xmlns:a="http://schemas.openxmlformats.org/drawingml/2006/main">
            <a:r>
              <a:t>- 001_設定資料/12_ID_and_Terminology.md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Rows labeled as technical decisions are decisions made by the technical lead for integration.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- 001_設定資料/DOCUMENT_REVIEW_SUMMARY.md</a:t>
            </a:r>
          </a:p>
          <a:p xmlns:a="http://schemas.openxmlformats.org/drawingml/2006/main">
            <a:r>
              <a:t>- 001_設定資料/01_Story_20_Chapters.md</a:t>
            </a:r>
          </a:p>
          <a:p xmlns:a="http://schemas.openxmlformats.org/drawingml/2006/main">
            <a:r>
              <a:t>- 001_設定資料/05_Equipment.md</a:t>
            </a:r>
          </a:p>
          <a:p xmlns:a="http://schemas.openxmlformats.org/drawingml/2006/main">
            <a:r>
              <a:t>- 001_設定資料/09_Game_Rules.md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- 001_設定資料/09_Game_Rules.md</a:t>
            </a:r>
          </a:p>
          <a:p xmlns:a="http://schemas.openxmlformats.org/drawingml/2006/main">
            <a:r>
              <a:t>- 001_設定資料/11_Producer_Direction.md</a:t>
            </a:r>
          </a:p>
          <a:p xmlns:a="http://schemas.openxmlformats.org/drawingml/2006/main">
            <a:r>
              <a:t>- 001_設定資料/12_ID_and_Terminology.md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- 001_設定資料/09_Game_Rules.md</a:t>
            </a:r>
          </a:p>
          <a:p xmlns:a="http://schemas.openxmlformats.org/drawingml/2006/main">
            <a:r>
              <a:t>- 001_設定資料/11_Producer_Direction.md</a:t>
            </a:r>
          </a:p>
          <a:p xmlns:a="http://schemas.openxmlformats.org/drawingml/2006/main">
            <a:r>
              <a:t>- 001_設定資料/DOCUMENT_REVIEW_SUMMARY.md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15-second stage load target and save implementation details are technical acceptance proposals.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- 001_設定資料/11_Producer_Direction.md</a:t>
            </a:r>
          </a:p>
          <a:p xmlns:a="http://schemas.openxmlformats.org/drawingml/2006/main">
            <a:r>
              <a:t>- 001_設定資料/03_Enemies_and_Encounters.md</a:t>
            </a:r>
          </a:p>
          <a:p xmlns:a="http://schemas.openxmlformats.org/drawingml/2006/main">
            <a:r>
              <a:t>- 001_設定資料/09_Game_Rules.md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- 001_設定資料/11_Producer_Direction.md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- 001_設定資料/11_Producer_Direction.md</a:t>
            </a:r>
          </a:p>
          <a:p xmlns:a="http://schemas.openxmlformats.org/drawingml/2006/main">
            <a:r>
              <a:t>- 001_設定資料/DOCUMENT_REVIEW_SUMMARY.md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- 001_設定資料/DOCUMENT_REVIEW_SUMMARY.md</a:t>
            </a:r>
          </a:p>
          <a:p xmlns:a="http://schemas.openxmlformats.org/drawingml/2006/main">
            <a:r>
              <a:t>- 001_設定資料/01_Story_20_Chapters.md</a:t>
            </a:r>
          </a:p>
          <a:p xmlns:a="http://schemas.openxmlformats.org/drawingml/2006/main">
            <a:r>
              <a:t>- 001_設定資料/10_Fields.md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- 000_エージェント共有読み物/01_タスク.txt</a:t>
            </a:r>
          </a:p>
          <a:p xmlns:a="http://schemas.openxmlformats.org/drawingml/2006/main">
            <a:r>
              <a:t>- 001_設定資料/11_Producer_Direction.md</a:t>
            </a:r>
          </a:p>
          <a:p xmlns:a="http://schemas.openxmlformats.org/drawingml/2006/main">
            <a:r>
              <a:t>- 001_設定資料/DOCUMENT_REVIEW_SUMMARY.md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c071d402df4e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db5293c3d4484a" /><Relationship Type="http://schemas.openxmlformats.org/officeDocument/2006/relationships/slideLayout" Target="/ppt/slideLayouts/slideLayout1.xml" Id="R84ac1cc488e144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ac1cc488e144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d0d5f8e90e4e79" /><Relationship Type="http://schemas.openxmlformats.org/officeDocument/2006/relationships/notesSlide" Target="/ppt/notesSlides/notesSlide1.xml" Id="R01170d6fdecd4c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f134fd2664405" /><Relationship Type="http://schemas.openxmlformats.org/officeDocument/2006/relationships/notesSlide" Target="/ppt/notesSlides/notesSlide2.xml" Id="R61916621744444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f712f824c42e6" /><Relationship Type="http://schemas.openxmlformats.org/officeDocument/2006/relationships/notesSlide" Target="/ppt/notesSlides/notesSlide3.xml" Id="R8b9a40737ddb4c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893c7255524224" /><Relationship Type="http://schemas.openxmlformats.org/officeDocument/2006/relationships/notesSlide" Target="/ppt/notesSlides/notesSlide4.xml" Id="Rad05c7021e1144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ab7ad3b151424c" /><Relationship Type="http://schemas.openxmlformats.org/officeDocument/2006/relationships/notesSlide" Target="/ppt/notesSlides/notesSlide5.xml" Id="R4ce6362ee8034c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16234d57c4ff6" /><Relationship Type="http://schemas.openxmlformats.org/officeDocument/2006/relationships/notesSlide" Target="/ppt/notesSlides/notesSlide6.xml" Id="Rc63e1f6a46804a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ce127785f24ca3" /><Relationship Type="http://schemas.openxmlformats.org/officeDocument/2006/relationships/notesSlide" Target="/ppt/notesSlides/notesSlide7.xml" Id="Rc95694856de24d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0e1dc46fa64145" /><Relationship Type="http://schemas.openxmlformats.org/officeDocument/2006/relationships/notesSlide" Target="/ppt/notesSlides/notesSlide8.xml" Id="R9e4307a9cfbc481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5cf7d48e4d4ebc" /><Relationship Type="http://schemas.openxmlformats.org/officeDocument/2006/relationships/notesSlide" Target="/ppt/notesSlides/notesSlide9.xml" Id="R471117a8e75c436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75ba6676544ff0" /><Relationship Type="http://schemas.openxmlformats.org/officeDocument/2006/relationships/notesSlide" Target="/ppt/notesSlides/notesSlide10.xml" Id="R4998bd1aa18f49d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c500bdd8444804" /><Relationship Type="http://schemas.openxmlformats.org/officeDocument/2006/relationships/notesSlide" Target="/ppt/notesSlides/notesSlide11.xml" Id="R31e041ab122249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6a04dc6eea4b13" /><Relationship Type="http://schemas.openxmlformats.org/officeDocument/2006/relationships/notesSlide" Target="/ppt/notesSlides/notesSlide12.xml" Id="R022052e6c349418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f569768c6b4b59" /><Relationship Type="http://schemas.openxmlformats.org/officeDocument/2006/relationships/notesSlide" Target="/ppt/notesSlides/notesSlide13.xml" Id="R254572eb7ba849e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072c4e2a304c00" /><Relationship Type="http://schemas.openxmlformats.org/officeDocument/2006/relationships/notesSlide" Target="/ppt/notesSlides/notesSlide14.xml" Id="Rbee62e6f072040c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de305a5898410f" /><Relationship Type="http://schemas.openxmlformats.org/officeDocument/2006/relationships/notesSlide" Target="/ppt/notesSlides/notesSlide15.xml" Id="Raed88994381e46e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f52ace76204ef6" /><Relationship Type="http://schemas.openxmlformats.org/officeDocument/2006/relationships/notesSlide" Target="/ppt/notesSlides/notesSlide16.xml" Id="R547e2cf943ed482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dd0d70ec7e4795" /><Relationship Type="http://schemas.openxmlformats.org/officeDocument/2006/relationships/notesSlide" Target="/ppt/notesSlides/notesSlide17.xml" Id="R30250455466c47e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9730c72dec4a99" /><Relationship Type="http://schemas.openxmlformats.org/officeDocument/2006/relationships/notesSlide" Target="/ppt/notesSlides/notesSlide18.xml" Id="R4e33a452ce4848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C58B9-9898-4CF7-99A2-1FAB54B9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401E84-ED11-4609-9DDB-C3EAC43F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TECHNICAL REQUIREMENTS / v1.0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105552-ED7E-4221-BC7C-2345F158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9906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4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29D11C-9DF2-4349-8712-6234575D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47950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322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技術・機能・非機能要件定義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F60279-1230-4733-A0BD-02E1C456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67200"/>
            <a:ext cx="923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ソロで完結する2.5D装備収集アクションを、データ駆動で完成させる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7D52E2-59D2-45E0-A54F-C4BEFC3F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2026.08.20  |  技術責任者</a:t>
            </a:r>
          </a:p>
        </p:txBody>
      </p:sp>
    </p:spTree>
    <p:extLst>
      <p:ext uri="{BB962C8B-B14F-4D97-AF65-F5344CB8AC3E}">
        <p14:creationId xmlns:p14="http://schemas.microsoft.com/office/powerpoint/2010/main" val="20335931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69F4BB-F177-4B42-9EBD-3E6D9A42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完成条件は『ソロで最後まで遊べること』から始める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12A71-E34C-4788-B487-02121EA8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000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543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PRODUCT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77278D-1558-4B82-A657-11894C85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9136C1-6BC4-41D3-9800-080AF3D4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A0F51C-5BCD-46D0-8937-F66330C0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3Dメカの手触りを、横スクロールの読みやすさで成立させる。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6377EB-A9ED-4A7D-9E8E-1A544496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28C2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444AA4-C74F-48C5-9700-E590A00E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BDF7A0-EB8F-4D61-8E34-77025CCB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71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5494DD-E4FA-4CC3-A182-86D86FBA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物語は本編で完結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A9E9F7-F554-477C-9590-B4626E77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514600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28C2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33CE52-8FA4-425E-BDE5-86BA7EAE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241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CBCE1E-FAF3-416E-8131-50D5F03A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71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フィールド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7D381D-CF64-4CA5-9810-381F07EB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8620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環境差で装備判断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934834-09DA-4DAF-9DB3-5348D033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14600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28C2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4E9422-8ACA-4F5F-A079-0352F8F3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25–35h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34C434-B0EA-40B0-92B1-0C951C3C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71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本編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5DD093-568A-4F0B-B78F-517E5B4D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8620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買い切り・オフライン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10A786-848D-416C-91F2-E965B5EC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14600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F44AC2-46AC-4080-99F0-E19DD6BA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241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1→4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9C0610-6C4E-420F-9F15-992E0161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71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146B20-0C66-45A4-9D4C-069CC03E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8620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P0–P4は1人／協力はP5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05AD11-28DD-4FD9-B67D-5062E290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B42318"/>
                </a:solidFill>
                <a:latin typeface="Yu Gothic"/>
                <a:ea typeface="Yu Gothic"/>
                <a:cs typeface="Yu Gothic"/>
              </a:rPr>
              <a:t>対象外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D0A804-2783-4DD3-9AC6-5AE4ED5C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816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競技PvP  /  性能課金  /  有料ランダムガチャ  /  毎日ログイン前提  /  サービス終了で本編が遊べない構成</a:t>
            </a:r>
          </a:p>
        </p:txBody>
      </p:sp>
    </p:spTree>
    <p:extLst>
      <p:ext uri="{BB962C8B-B14F-4D97-AF65-F5344CB8AC3E}">
        <p14:creationId xmlns:p14="http://schemas.microsoft.com/office/powerpoint/2010/main" val="1891581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71A280-E2FC-41EF-805C-EBD82AF8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物語の5幕が、学習するゲームシステムを段階的に増やす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4EBD37-6E26-4494-8A37-0F49AA55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000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877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STORY ×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3D72CB-43F6-464B-B470-45A760A5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3E9BCD-ADF1-4DB3-A07D-3CF5A38C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71652F-682B-4781-8C88-5F068C83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6FE5E-DE60-482D-A726-20266B68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E6E5B8-1768-44EF-AA78-DACDE49F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574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CH 1–4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74EBB1-9DA5-45A1-B982-AD9F4C8F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990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拾った火種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733F25-F96E-4C18-ADC4-DD9131DE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38550"/>
            <a:ext cx="180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基本操作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ドロップ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武器相性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AA8CCD-0668-4D97-A063-E423BA3B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71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0D3741-15E6-428D-A649-46F68220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574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CH 5–8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C2F477-3455-46BB-80EF-0E64D104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0990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黒い流通網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7F5E1F-D312-4C9E-ADEF-EBFAA94A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638550"/>
            <a:ext cx="180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環境装備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護衛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ジャミング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49067E-6513-40E0-AC95-2F740784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71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E96D6F-E0BC-4C64-B06F-559C774C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574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CH 9–12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217CF8-DDA9-416B-AB72-443B0CA6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0990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鎧の値段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F4D27E-1536-41E1-BCAE-CFE63A63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638550"/>
            <a:ext cx="180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高熱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装備制限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拠点防衛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2A0892-0760-449E-8192-7A366A30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71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313E0A-F693-459E-9B71-FA1D9A29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574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CH 13–16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F40C63-35EF-4722-83A0-C9C8289A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0990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誰に届けるか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91248A-971A-4591-A7CA-6134D8FC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38550"/>
            <a:ext cx="180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共闘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空中戦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民間人保護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289EA6-ADCE-4596-8A81-6419AED8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71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E01EAE-AD28-4B2F-8536-8274D3B5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574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CH 17–20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DFC2B2-7193-466D-A7C6-D0B6139F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0990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明日を届ける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72D6AE-339D-4AD5-A6D3-2488C4EB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38550"/>
            <a:ext cx="180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複合環境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連続作戦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最終決戦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717A46-4299-476C-AAD8-C2B2C6BE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K1の独立認証核LARKを軸に、兵器流通の証拠回収が『装備成長』と『真相解明』を同時に進める。</a:t>
            </a:r>
          </a:p>
        </p:txBody>
      </p:sp>
    </p:spTree>
    <p:extLst>
      <p:ext uri="{BB962C8B-B14F-4D97-AF65-F5344CB8AC3E}">
        <p14:creationId xmlns:p14="http://schemas.microsoft.com/office/powerpoint/2010/main" val="17375068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1DD1D9-71E0-43F1-9C9B-89E8D5BB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戦闘・装備・物語を、同じ意思決定へ収束させる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FD3964-E904-4C2C-818E-757D44E3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000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DESIGN PILLARS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8FDB76-09AB-4940-BDFA-D856352B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370ED1-FEF0-4DE6-A429-3AF19915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1C44AA-7689-4618-9279-F521CD7A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4286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プレイヤーは毎回、</a:t>
            </a:r>
          </a:p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『何を持ち込み、</a:t>
            </a:r>
          </a:p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誰を守り、</a:t>
            </a:r>
          </a:p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何を持ち帰るか』</a:t>
            </a:r>
          </a:p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を選ぶ。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7A7091-3258-4910-9F1A-5FF8F101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562100"/>
            <a:ext cx="0" cy="403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BCB15C-3ABB-4E2D-A6FD-D6FB9F95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466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FCDB97-D849-41BD-8ED9-9DF396EE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478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二つの距離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03AD07-7398-4019-8A38-20301219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47800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安全な射撃／危険だが装甲を崩す近接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FE602F-791C-4879-83DD-BF6383FA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095500"/>
            <a:ext cx="584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EF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A0FFD1-F7A0-4E18-812F-D8AF27EB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622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C3316B-498B-4579-9D39-84CB3B4E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431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環境を攻略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B17DED-FEB6-470A-8E92-BCB50087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43150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寒冷・熱・電磁・浸水へ装備とルートで回答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3B2784-3C51-40DA-9D7A-D9AA774A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990850"/>
            <a:ext cx="584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EF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05403A-F4FD-46F7-B9B5-1AFBCE41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2575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A931F5-7EB2-4718-B051-337490F4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任務の裏側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D6B33A-5F0D-41F7-BF43-00027566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戦利品は強化素材であり、事件の証拠でもある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3203BD-1B69-4E1A-AEB7-76BC65EE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86200"/>
            <a:ext cx="584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EF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BA0859-33FD-4524-AEC0-3D99D4E9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52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1A1326-0D63-4001-B906-C0AFA717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338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15人の会社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619033-CB12-4335-8AF2-54B3B547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33850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全員が戦闘・整備・情報・生活で機能する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1ED2F0-18CD-4765-B630-17EA94BF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781550"/>
            <a:ext cx="584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EF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823F8C-6878-4B64-9A45-E0C5F747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048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363A80-2449-4B21-AEAE-1ED62771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292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笑顔を届ける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AFF35A-5873-450F-9A4C-4460DC7A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29200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救助・非致死・証拠公開が長期成果につながる</a:t>
            </a:r>
          </a:p>
        </p:txBody>
      </p:sp>
    </p:spTree>
    <p:extLst>
      <p:ext uri="{BB962C8B-B14F-4D97-AF65-F5344CB8AC3E}">
        <p14:creationId xmlns:p14="http://schemas.microsoft.com/office/powerpoint/2010/main" val="19430234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A710FD-7B51-49CF-8E83-CBE3D707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6つの状態遷移が、プレイと物語を一周させる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8E3D17-66BF-4FAB-961F-E5014B4B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000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CORE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5AD7D8-43C7-4727-A511-836E2CC2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D0BBEB-159B-4420-9942-0B2CADA1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D0ACA1-C829-4D11-AA69-75E0A508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819400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8DD7AB-B069-4861-87F0-B978754E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19400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354CF4-A479-4EBD-AF16-BDED1CC6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819400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10D5C4-8932-44F1-9DF7-4ADC0B74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19400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356765-6797-4640-92C4-8E5A743D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19400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DBF3DD-3A61-4444-8C24-1A0CA030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1524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49425E-F506-4F19-8BAF-15666681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4EFBB1-9855-489D-B89F-3CF0D158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本社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1EC5FB-635A-453D-8182-D5DF1862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81250"/>
            <a:ext cx="1524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1605F3-B8BC-4FE3-83FA-85A825D9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514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7C89A1-2FA6-4579-A90C-A1E38EAD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91465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準備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71D200-5E6B-4DE1-B9DF-FAAEA250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381250"/>
            <a:ext cx="1524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A6E232-2204-42E6-8B35-50993FC1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14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18CBC8-330E-4129-BBA7-EB371396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1465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出撃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2786BC-E051-4976-B52F-F04DDB96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81250"/>
            <a:ext cx="1524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1B0140-EEFD-4675-B106-EA34E4AF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14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1A2BD3-DCCF-468C-B9E9-E750B4E7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1465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攻略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6E376F-C31A-42A1-91D3-2D1D8546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81250"/>
            <a:ext cx="1524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29609E-AE01-48F8-BC75-609B9830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14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38FE2E-DF05-428E-AD5A-A8B72B07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1465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回収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664C01-FEAA-4561-9E79-E447207C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81250"/>
            <a:ext cx="1524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C15536-9118-43BA-9875-356B14F5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514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39C435-BF47-48F9-AC8C-8BD3DE19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91465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帰還・成長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AC6196-D6BA-48F5-947D-CA80B73E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909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会話・任務選択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F43EF6-4A8C-4A77-8A62-366787D8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909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83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プリセット・推奨タグ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19DACC-DB5F-4793-B272-286D22AE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7909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8–15分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885C07-6A28-4E69-A10F-0162A198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909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戦闘・環境・目標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9A4CFA-6CA8-4512-9A24-F918B278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7909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装備・素材・証拠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9EC8AA-2772-402C-A598-E6D26956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7909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強化・分解・解析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5F3866-2D80-4B76-8F5C-58449028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720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失敗しても証拠品とチェックポイントまでの素材50%を保持し、再挑戦時は装備変更へ直行できる。</a:t>
            </a:r>
          </a:p>
        </p:txBody>
      </p:sp>
    </p:spTree>
    <p:extLst>
      <p:ext uri="{BB962C8B-B14F-4D97-AF65-F5344CB8AC3E}">
        <p14:creationId xmlns:p14="http://schemas.microsoft.com/office/powerpoint/2010/main" val="15910752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D1133-FDD2-438B-AC79-ABD74E5F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P1で検証すべき機能要件を6領域に固定する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CF57F-53B7-4683-887A-F101C3BD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000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6163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FUNCTIONAL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334995-36D0-44E9-8500-A889327C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98F30-E8E0-492A-9EB1-3A94ED28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57200" y="1428750"/>
          <a:ext xmlns:a="http://schemas.openxmlformats.org/drawingml/2006/main" cx="11277600" cy="4591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76300"/>
                <a:gridCol w="1257300"/>
                <a:gridCol w="6191250"/>
                <a:gridCol w="2952750"/>
              </a:tblGrid>
              <a:tr h="65586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ID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領域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必須要件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P1合格条件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65586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FR-01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操作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移動・ジャンプ・飛行・回避・射撃・近接・切替・全入力変更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入力遅延とキャンセルが一貫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586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FR-02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戦闘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Shield→Armor→HP、Break、部位、状態異常、予告、Down/Retry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30/60fpsで判定同一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65586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FR-03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任務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目標、護衛、防衛、救助、失敗条件、1–3チェックポイント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初見で主目標を理解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586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FR-04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装備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射撃1・近接1・戦術2・弾薬MOD1・K1各部位・プリセット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推奨なしでも代替攻略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65586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FR-05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成長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ドロップ、鑑定、強化、分解、売却、証拠、ランク、スキル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進行不能を起こさない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586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FR-06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基盤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本社ハブ、セーブ、再戦導線、図鑑、設定、ローカライズ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再起動後に状態復元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65947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EED664-9AEF-4608-B748-33B436EA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戦闘は『生存資源』と『行動資源』を混ぜない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728199-9B70-437E-B145-82D31DC6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000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COMBAT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FA38CE-660E-4268-B56E-E13BA007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3ED587-B4C6-47C4-A2B1-3C8831A9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00260E-0893-4812-BBDF-F100D20F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3EE448-E488-41A8-BD7C-4DE5751A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478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生存資源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C51144-5E23-441D-BF32-1084A26B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41B306-290F-4C64-B16A-428146C1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02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SHIELD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0CAFBC-EBB9-4065-8096-D563CF04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2098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4秒非被弾で回復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97E16D-2735-4986-AEA7-4F5A50E3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819400"/>
            <a:ext cx="4572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102D26-0E2D-4F7E-96F1-7543264F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3"/>
          </a:solidFill>
          <a:ln xmlns:a="http://schemas.openxmlformats.org/drawingml/2006/main" w="19050">
            <a:solidFill>
              <a:srgbClr val="F28C2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A94B6A-E0A7-434B-B60C-5638913C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670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ARMOR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26CD22-8338-458C-9B85-147DEB52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2766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自然回復なし／補修と補給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E5FCD0-4AC8-408E-B0C7-ECC2311E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86200"/>
            <a:ext cx="4572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8283CE-D36B-459E-8F96-EFE10E1C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71950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A"/>
          </a:solidFill>
          <a:ln xmlns:a="http://schemas.openxmlformats.org/drawingml/2006/main" w="19050">
            <a:solidFill>
              <a:srgbClr val="B4231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EB4351-C4BC-4246-AC0A-99422AF8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4231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B42318"/>
                </a:solidFill>
                <a:latin typeface="Yu Gothic"/>
                <a:ea typeface="Yu Gothic"/>
                <a:cs typeface="Yu Gothic"/>
              </a:rPr>
              <a:t>HP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9F921D-A6B0-40EF-9B56-4A50B7F4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3434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医療と補給／0でDown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B2728C-E7C8-4459-A9FB-3800BAEC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28750"/>
            <a:ext cx="0" cy="409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B7C6E9-0197-4B9E-B50F-2844BE2C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4859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2FC91F-947B-460A-A422-71A7D791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478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行動資源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8871DD-D824-4DD0-8AF2-D053B241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0955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ENERGY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DC7BF3-94AC-4709-A6CE-6AFECB05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533650"/>
            <a:ext cx="533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ジェット・シールド・ビーム・支援機能で共有。0でも地上移動・実弾・近接は使用可能。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18693E-9878-42E2-A9BA-B6C4ED67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623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HEAT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2D5ED7-11D5-487A-BA8C-997A65F8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00500"/>
            <a:ext cx="533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高出力の継続を制限。100で5秒間、ジェット・ビーム・シールド回復が停止。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0852AB-B38F-4F4C-9E32-409B793A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2197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射撃＝安全と継続　／　近接＝接近リスクと装甲破壊</a:t>
            </a:r>
          </a:p>
        </p:txBody>
      </p:sp>
    </p:spTree>
    <p:extLst>
      <p:ext uri="{BB962C8B-B14F-4D97-AF65-F5344CB8AC3E}">
        <p14:creationId xmlns:p14="http://schemas.microsoft.com/office/powerpoint/2010/main" val="6810504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A03F4A-EB55-451A-B272-41906664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335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100ステージは目標値。品質を守るため、部品化して生産する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644250-F469-4C89-993A-4AF2D571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000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337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CONTENT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4DA927-A82F-4BA6-9848-F7A0C13D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F6B704-3D11-44E5-B366-50A7ECDA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76B3BD-A67C-4223-BB81-5510BB9F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615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7607C7-ED6C-474C-86B5-4707C1CC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メインステージ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62045-253C-4272-AA6B-4F226447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040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20章 × 原則5ステージ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10フィールド × 10ステージ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1ステージ 8–15分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5B1B67-03AB-46D8-9C4B-04ABAD45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466850"/>
            <a:ext cx="0" cy="396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2B87E8-1D59-4D67-88EB-AC768CED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4668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目的部品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A10BC4-4236-4147-BF87-4DF25552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504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撃破・到達・護衛・防衛・救助・回収・追跡・装置停止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4AC9AC-6BAF-4293-AD92-BE3741FB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09800"/>
            <a:ext cx="691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EF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C11541-51B1-45BA-BB15-D8A4C998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669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戦闘部品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005932-E397-4241-87AE-B4F813B7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66975"/>
            <a:ext cx="504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一般AI・支援AI・Elite・Bossフェーズ・部位・予告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490362-725C-47DD-9F85-AFD7F136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09925"/>
            <a:ext cx="691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EF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E928D9-2C50-4CBF-98D4-BB2B17E3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671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環境部品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CB753B-67F7-4D1D-B060-A7AA94E5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67100"/>
            <a:ext cx="504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寒冷・熱・砂塵・毒・電磁・浸水・強風・低重力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1CE0EE-15B3-43D5-A9BA-6C6A1087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10050"/>
            <a:ext cx="691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EF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5DEA55-316C-4420-81AF-DF38F479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672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物語部品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96DC27-AC3B-49BE-A272-28B5A16D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67225"/>
            <a:ext cx="504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会話・証拠・報酬・解放・章フラグ・ハブ更新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7CB7D0-0DE7-4192-BD00-2429379D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210175"/>
            <a:ext cx="691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EF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39CD6F-4B7C-4552-ABD9-FD58F981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524500"/>
            <a:ext cx="691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18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B42318"/>
                </a:solidFill>
                <a:latin typeface="Yu Gothic"/>
                <a:ea typeface="Yu Gothic"/>
                <a:cs typeface="Yu Gothic"/>
              </a:rPr>
              <a:t>品質ゲートを満たせない場合は、ステージ数を先に削減する。</a:t>
            </a:r>
          </a:p>
        </p:txBody>
      </p:sp>
    </p:spTree>
    <p:extLst>
      <p:ext uri="{BB962C8B-B14F-4D97-AF65-F5344CB8AC3E}">
        <p14:creationId xmlns:p14="http://schemas.microsoft.com/office/powerpoint/2010/main" val="9799789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153453-F0B9-46EE-ACC9-E223A698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技術基盤は『コアがオンラインへ依存しない』構造にする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0CD4CB-D84E-4C49-9B7D-F4582B0D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000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33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TARGET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856EC1-4FBB-45CE-AE7D-DFF7E023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6BE007-5EEC-4396-B890-F22C25C4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73A134-C852-4AF7-B357-39CC2187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291EA5-6186-427B-B24D-193ED324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33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FFEC8-263E-4D71-B3FA-B4E2222B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049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UX / PRESENTATION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6A09AE-4CA0-4A56-B4AB-6F757347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504950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入力抽象化・カメラ・HUD・字幕・アクセシビリティ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02DECC-9DF2-4591-9F2D-F5968332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3"/>
          </a:solidFill>
          <a:ln xmlns:a="http://schemas.openxmlformats.org/drawingml/2006/main" w="9525">
            <a:solidFill>
              <a:srgbClr val="F28C2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A03986-172B-4C5E-9629-0A5EE84C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33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38287F-CCF5-4958-90D7-02EE49CB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GAMEPLAY RUNTIME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3FD6C8-55CA-4102-BE6F-22F46408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381250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移動・戦闘・AI・任務・ドロップ・ハブ・進行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B3B6F0-67B8-4022-9039-68436769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10972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5F636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CA8869-42DA-49D5-A7CF-96B55987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133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368"/>
          </a:solidFill>
          <a:ln xmlns:a="http://schemas.openxmlformats.org/drawingml/2006/main" w="0">
            <a:solidFill>
              <a:srgbClr val="5F63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D4036C-A4EE-405D-A488-27A1130D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CONTENT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88209E-BDE8-4A36-8ED4-0BA764A5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257550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安定ID・マスターデータ・会話・ローカライズ・Addressable配信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E2D4BD-210D-41ED-92E2-41C09959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ED"/>
          </a:solidFill>
          <a:ln xmlns:a="http://schemas.openxmlformats.org/drawingml/2006/main" w="9525">
            <a:solidFill>
              <a:srgbClr val="137A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8D7134-7C01-4CA3-87FC-9082806B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33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A4A"/>
          </a:solidFill>
          <a:ln xmlns:a="http://schemas.openxmlformats.org/drawingml/2006/main" w="0">
            <a:solidFill>
              <a:srgbClr val="137A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C668EE-0D16-4FEA-B4B0-4AA18066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338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7A4A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37A4A"/>
                </a:solidFill>
                <a:latin typeface="Yu Gothic"/>
                <a:ea typeface="Yu Gothic"/>
                <a:cs typeface="Yu Gothic"/>
              </a:rPr>
              <a:t>PERSISTENCE / PLATFORM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AA3E28-D7CC-4A67-8462-901F98A6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133850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版管理セーブ・設定・実績・任意テレメトリ・P5オンライン境界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BF378C-B831-424A-9145-7FC6665F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CFBE11-55EE-460F-80C1-F2CE3C39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33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3F01F0-22F9-429A-9263-F1CBC515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ENGINE FOUNDATION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3CA795-0309-48FB-ABD0-8F0AC824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010150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Unity LTS / URP / C#　＋　Git・Git LFS・GitHub Actions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2B0400-74EA-4288-A5E9-DA412C20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245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P0–P4ではサーバー停止・未接続でも本編、セーブ、装備、再戦がすべて成立する。</a:t>
            </a:r>
          </a:p>
        </p:txBody>
      </p:sp>
    </p:spTree>
    <p:extLst>
      <p:ext uri="{BB962C8B-B14F-4D97-AF65-F5344CB8AC3E}">
        <p14:creationId xmlns:p14="http://schemas.microsoft.com/office/powerpoint/2010/main" val="7684558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E6C2DC-F5E2-419B-8B2E-B532C5AB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レビューで見つかった実装矛盾は、データ契約で一本化する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7D3304-85FE-41DA-B86D-067F1358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000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3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DATA CONTRACTS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0ACAEF-934A-4772-B003-70DE86E9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C12306-22B9-4807-B2B5-B66E572D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57200" y="1371600"/>
          <a:ext xmlns:a="http://schemas.openxmlformats.org/drawingml/2006/main" cx="112776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857750"/>
                <a:gridCol w="4229100"/>
              </a:tblGrid>
              <a:tr h="59531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論点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技術決定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実装への効果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出力倍率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記載式を正とし、STAT150は約1.11倍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逓減を維持し説明を修正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DPS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継続DPS＝射撃間隔＋リロード込み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表を自動計算・範囲外をCIで警告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アイテムID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CUR/MAT/CON/DAT/EVD/COLを具体IDに使用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ITM_は抽象カテゴリのみ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装備枠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戦術2枠はCON_*を装填。EQP_UTIL_*は再使用・常時装置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回復品の二重マスターを廃止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Penetration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全補正後に0–100へクランプ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徹甲弾で上限超過しない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E14属性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電撃／衝撃。刺突性はPenetrationで表現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未定義DMG_PIERCEを増やさない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組織と勢力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organizationIdとfactionIdを別フィールド化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治安局ORG/FACの競合を解消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17938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AC6E94-AEDC-449D-BC6A-E3AC2883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解放時期と例外ルールも、実装可能な形へ固定する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ECCC57-B9CE-4E68-A108-8D3C984F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000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023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PROGRESSION CONTRACTS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504367-EB77-4F0C-BD2B-74768DE3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EBD05-B23F-498C-8923-27E73C35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800100" y="1428750"/>
          <a:ext xmlns:a="http://schemas.openxmlformats.org/drawingml/2006/main" cx="10591800" cy="4667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6667500"/>
                <a:gridCol w="1924050"/>
              </a:tblGrid>
              <a:tr h="58340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対象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確定仕様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更新先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K1コスト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Stage I 100 → II 110 → III 125 → IV 140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05 / 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環境枠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第5章で1枠、第18章で2枠目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01 / 05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ソロ蘇生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HP0はチェックポイント。緊急蘇生器はP5協力専用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05 / 07 / 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ロケット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第9章は爆発MOD、第13章でP6本体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01 / 04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電撃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E14は第8章、第13章で水面伝播／共闘応用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01 / 04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フレア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基本版を第7章前、8章報酬は強化版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01 / 10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LARKスキャン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第16章開始時に任務限定、クリア後に恒常化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01 / 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154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E64335-4261-4F10-91C5-C2DA9CE0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セーブ・文字・入力は、後から直す機能ではない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4E50DC-52E8-4EE3-AADE-29E7FADA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000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417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FOUNDATION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78DA59-DD08-471F-B6EB-22844786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3A3B68-1B1A-42BB-B8D9-3F561BDD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8FE0FD-1A46-44FF-82D5-60DD2C10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24000"/>
            <a:ext cx="0" cy="409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13DA48-360B-47C2-BEB7-CD4E9880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24000"/>
            <a:ext cx="0" cy="409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5B40B3-535D-404A-A63D-44F9D1D2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4305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60F0AF-B8F4-4ED2-9DF6-A6138C2C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SAVE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2D48E1-BCD3-4DD0-A157-13D0EF7E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228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98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2CB1CD-F9AC-438C-BA7D-7FABF8B9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オート1／手動3／チェックポイント一時保存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096E0C-E891-4F6D-A84A-32D5F7D5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228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98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D2FFCF-DCBD-4A4E-A642-FA9ECE73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原子的書き込み＋直前バックアップ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C491EA-4AA5-44A1-A744-90B2B663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67100"/>
            <a:ext cx="228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98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A000DE-E352-4046-9F68-AF1108CD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saveVersionと移行テストを必須化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8A5156-473E-409B-93BE-BFCEC356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52900"/>
            <a:ext cx="228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98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0CFAFF-9848-425C-A87E-3490731C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IDは表示名変更後も再利用しない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FF53E9-9B2D-41C4-9E7D-8BA95102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54305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FE36E5-895B-4579-97D1-31D2AA30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LOCALIZATION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388696-BE41-4D7B-A26A-72792B66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95500"/>
            <a:ext cx="228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98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BF3524-83D5-4594-9587-94958086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95500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全表示文字列をコードから分離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20DBAD-3199-4CE7-81F5-5371D420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81300"/>
            <a:ext cx="228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98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F8F12A-56C5-4817-B1A7-667571B3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81300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日本語の1.5倍幅までレイアウト保持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B21ED6-D13C-49A8-93A2-2A3C3742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67100"/>
            <a:ext cx="228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98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EB6BBB-549A-4DCD-BB3E-D8820F7B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467100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語順変更できる文単位で変数管理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BDCD8A-982D-4B2A-8021-B24C013C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152900"/>
            <a:ext cx="228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98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778E1B-0079-4650-BD20-6F865472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152900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固有語は全言語共通表記を固定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CDF9E1-2654-4239-9A93-CBD26B83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4305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A4A"/>
          </a:solidFill>
          <a:ln xmlns:a="http://schemas.openxmlformats.org/drawingml/2006/main" w="0">
            <a:solidFill>
              <a:srgbClr val="137A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AD8F15-6BFB-4742-9E0F-766A2DC8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049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ACCESSIBILITY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92CCCD-651B-4ABB-AD81-E9474AF5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228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98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7A4A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37A4A"/>
                </a:solidFill>
                <a:latin typeface="Yu Gothic"/>
                <a:ea typeface="Yu Gothic"/>
                <a:cs typeface="Yu Gothic"/>
              </a:rPr>
              <a:t>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8AF5F4-1B49-45D2-BAD1-8D1316CB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95500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全入力変更・コントローラー対応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C384C6-6DDB-4BBD-A710-BDB9F4A2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81300"/>
            <a:ext cx="228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98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7A4A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37A4A"/>
                </a:solidFill>
                <a:latin typeface="Yu Gothic"/>
                <a:ea typeface="Yu Gothic"/>
                <a:cs typeface="Yu Gothic"/>
              </a:rPr>
              <a:t>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982B2C-C3FB-4A9E-97A5-CB51BB60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81300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字幕サイズ・背景・話者名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70638A-125F-4792-8835-62FB0B58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67100"/>
            <a:ext cx="228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98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7A4A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37A4A"/>
                </a:solidFill>
                <a:latin typeface="Yu Gothic"/>
                <a:ea typeface="Yu Gothic"/>
                <a:cs typeface="Yu Gothic"/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E4B3E6-B0F7-4E33-AB9E-4970FD8D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67100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色だけで情報を伝えない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E14BFD-0B79-4ABF-92ED-2D85FEC2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52900"/>
            <a:ext cx="228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98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7A4A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37A4A"/>
                </a:solidFill>
                <a:latin typeface="Yu Gothic"/>
                <a:ea typeface="Yu Gothic"/>
                <a:cs typeface="Yu Gothic"/>
              </a:rPr>
              <a:t>•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798660-5197-41E9-921A-B9F876FC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52900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揺れ・点滅・ブラー・連打を調整</a:t>
            </a:r>
          </a:p>
        </p:txBody>
      </p:sp>
    </p:spTree>
    <p:extLst>
      <p:ext uri="{BB962C8B-B14F-4D97-AF65-F5344CB8AC3E}">
        <p14:creationId xmlns:p14="http://schemas.microsoft.com/office/powerpoint/2010/main" val="11528217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651E77-0AA8-4E12-8D3B-B50F2F8B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非機能要件は、プレイ体験を守る測定条件として定義する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0CF4F0-07CF-4128-B19E-3B5905B8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000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1111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NON-FUNCTIONAL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54FD2E-10F5-435F-8F66-06E09967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87C3E-6A4B-4623-83EB-349B0651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57200" y="1409700"/>
          <a:ext xmlns:a="http://schemas.openxmlformats.org/drawingml/2006/main" cx="112776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1714500"/>
                <a:gridCol w="8420100"/>
              </a:tblGrid>
              <a:tr h="59531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ID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品質属性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受入基準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NFR-01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性能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推奨1080p/60fps（16.7ms）、最低30fps（33.3ms）。入力・判定は時間基準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NFR-02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再試行性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ボス再戦まで30秒以内。最低環境SSDでステージ読込15秒以内を目標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NFR-03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信頼性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セーブは原子的書込・世代バックアップ・破損検出。異常終了後も復旧可能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NFR-04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オフライン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P0–P4の本編・装備・セーブ・再戦はネットワーク不要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NFR-05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可用性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落下・挟まり・護衛停止から復帰。進行不能を品質ゲートで禁止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NFR-06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プライバシー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テレメトリは説明・選択可能。会話、個人ファイル、不要な入力履歴を収集しない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NFR-07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保守性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マスターデータ検証、ID参照検査、計算式テスト、セーブ移行をCIで自動化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70182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188E08-F130-4F7E-AA2D-B40D2010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品質は、実装完了ではなく『壊れず学べること』で判定する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8444E6-3F1B-4D66-863E-2B3B1357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000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QUALITY GATES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4B637C-C66F-4A60-8356-41FD246B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5991D4-72AA-4080-98B3-4ED51FA8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AC9445-AEE0-4ED3-81E6-F90FA107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1A740E-971C-492C-9F4C-26EB192F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4287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参照整合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F6E6F4-76A5-44E6-A4CE-B6A27BDC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447800"/>
            <a:ext cx="752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ID重複・欠損参照・DPS帯・装備コスト・解放順を自動検査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C01C1C-2ADE-47C0-9D99-DF3BB6A4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FEF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D12206-B7A2-482C-9E2E-E5FE5F69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CA597B-D2C8-4719-85B3-0CDF966E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5336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決定性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D62950-E656-42A8-BE78-D001FB9D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52700"/>
            <a:ext cx="752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30/60fps、入力差、セーブ移行、チェックポイント復元を自動検証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7422E6-6653-4A57-B6BB-22C7ECCE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FEF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3024D8-E2F9-4F1A-B2A4-2CC43EDE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STAGE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B39A3C-FBF6-43B7-A334-D3D683E9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6385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遊べる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BACB18-F5DF-4520-923F-78BB48C9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657600"/>
            <a:ext cx="752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主目標が分かる／画面外予告／代替攻略／再戦30秒／進行不能なし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B9AA78-A3B9-4337-B20F-4B54CC36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FEF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9B2868-E59D-406E-A778-F4F3615A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CHAPTER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068525-382B-4F03-9DD6-B91515FD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7434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学べる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B74CA0-A5B6-4CC4-98EF-77E92200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762500"/>
            <a:ext cx="752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新要素を1つ教え、ボスで応用し、報酬が次章で役立つ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B23328-25B3-4288-BD7D-B681D803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FEF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17A4FA-7D3E-4E5E-9146-D520E285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245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P1は入力感と第1章、P3はコンテンツ生産速度、P4は全章の回帰を重点測定する。</a:t>
            </a:r>
          </a:p>
        </p:txBody>
      </p:sp>
    </p:spTree>
    <p:extLst>
      <p:ext uri="{BB962C8B-B14F-4D97-AF65-F5344CB8AC3E}">
        <p14:creationId xmlns:p14="http://schemas.microsoft.com/office/powerpoint/2010/main" val="7077143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D2A053-6272-43BE-A396-1F88B547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開発はP0からP4までを一本道にし、協力プレイを分離する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B844B-1B42-404D-9B65-029B2FEA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000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263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DELIVERY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F1DB6D-D6FE-478C-AEB3-ACE0DF68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99ED1E-7F8B-41E2-A453-47B4AA60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81B01-3506-4878-9CC4-5F9E8240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A65FB0-52A6-4FFB-88E0-B6149367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003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339866-8519-4F27-9B4F-08FBCFE4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812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P0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4A3C6C-B034-49D3-8547-78536C9D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05150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戦闘</a:t>
            </a:r>
          </a:p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プロトタイプ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DC0079-ECBC-4F54-94FA-2566DB08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48100"/>
            <a:ext cx="1657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移動・射撃・近接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飛行・Armor/HP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AI・再挑戦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80B06A-9122-45D5-A8D6-94EAE926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6003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40C36A-1D76-429D-BDD8-6B00116A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9812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P1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BBF859-8A81-4AB2-9E99-B4AA55A9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105150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バーティカル</a:t>
            </a:r>
          </a:p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スライス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0741D3-2796-4FE4-89E2-5EDA3EA9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848100"/>
            <a:ext cx="1657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第1章5ステージ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K11・VS-01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ゴライアスT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CB96A6-A3C1-4A5D-BD0D-535B8EB0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003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2331C6-489F-4D00-A4E1-A37B1FCF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812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P2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00A66D-BADC-4BD4-A13E-876298F6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05150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コアループ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9AF62D-5C9D-4322-A72F-76DD146B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48100"/>
            <a:ext cx="1657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第2章まで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回収・強化・売却・セーブ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EF881E-009C-49AA-90A2-FCF10B3D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6003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9C8B29-1F19-4878-BEB4-AB2054D1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9812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P3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023ADB-BDEE-4A7B-BD03-974D91CE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105150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生産可能状態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7F94EA-2D04-4EB0-9188-F9E1D1C8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848100"/>
            <a:ext cx="1657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3フィールド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データ駆動・QA基準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32A904-3C5C-45CA-B437-6CF50DF1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03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80B058-875A-43B8-9DCB-0BA3CF06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812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P4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3E49D6-92C4-4280-88F0-EC139A5A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05150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本編完成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F14345-7DF2-4E44-A36F-5F7934DF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48100"/>
            <a:ext cx="1657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20章・10フィールド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人物任務・全文字列管理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06C894-4BA0-40A3-88DC-FA56CB98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6003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41685D-1A77-4BF6-A33F-08448826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19812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P5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B6B1CE-2E6C-4384-BA3B-EA6D3AA9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105150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将来機能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78041F-7C10-467E-B909-7016AD35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848100"/>
            <a:ext cx="1657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最大4人協力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追加短編・家庭用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E3C02E-4349-44D1-AB82-1D8935E1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048250"/>
            <a:ext cx="1676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56F90A-64C1-4826-B18D-AAFEF577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1816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80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オンラインは別判定</a:t>
            </a:r>
          </a:p>
        </p:txBody>
      </p:sp>
    </p:spTree>
    <p:extLst>
      <p:ext uri="{BB962C8B-B14F-4D97-AF65-F5344CB8AC3E}">
        <p14:creationId xmlns:p14="http://schemas.microsoft.com/office/powerpoint/2010/main" val="5660338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25BC31-4014-4D7F-BDCC-6BDFF3F4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最大リスクは機能不足ではなく、相互作用の暴走にある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64B59E-24F7-40F3-867D-339828CC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000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TOP RISKS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B656C6-61C3-46EE-89C6-5866DD93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844D55-D7DD-4163-9ABE-3D5A5F17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57200" y="1428750"/>
          <a:ext xmlns:a="http://schemas.openxmlformats.org/drawingml/2006/main" cx="11277600" cy="4667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667000"/>
                <a:gridCol w="5753100"/>
              </a:tblGrid>
              <a:tr h="6667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リスク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兆候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技術対策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飛行で地上戦を無視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敵と地形を越える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対空・Energy・空中報酬。見えない壁を減らす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射撃だけが最適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近接を使わない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重装甲・弾薬・Break・切替攻撃で回答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100面が薄くなる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反復とQA遅延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部品化・代表ギミック・品質未達なら面数削減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装備整理が主時間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倉庫疲れ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特性上限・フィルター・確定品・保護・天井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固有名詞が追えない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物語離脱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各章2つまで・証拠ボード・章末自動要約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オンラインが本編を遅延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同期都合で設計変更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P5分離・境界インターフェース・本編依存禁止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542112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2177F6-8A8C-4883-A707-8C4B0783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07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技術基盤は着手可能。物語整合の4点だけはプロデューサー決定が必要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2145D-D9DF-4F29-B24D-3AE09221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000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3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DECISION REQUEST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D8270B-E96C-47CA-8D40-12F673A6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C7870A-FE70-41F5-8537-E4230AAE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7C2FAB-02A0-49D6-9B2E-597361B6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52578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A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93BD55-3ADB-45B6-B5A7-F0907CB8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18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B42318"/>
                </a:solidFill>
                <a:latin typeface="Yu Gothic"/>
                <a:ea typeface="Yu Gothic"/>
                <a:cs typeface="Yu Gothic"/>
              </a:rPr>
              <a:t>プロデューサー決定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428279-30C8-4D38-ADE9-06BCDBC5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228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98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231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B42318"/>
                </a:solidFill>
                <a:latin typeface="Yu Gothic"/>
                <a:ea typeface="Yu Gothic"/>
                <a:cs typeface="Yu Gothic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953431-DC24-4CF9-B07B-7F948617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43150"/>
            <a:ext cx="4267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第18章『五つの声』の5系統目を定義する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8E3273-6028-4D53-9129-12BEAFE3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8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98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231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B42318"/>
                </a:solidFill>
                <a:latin typeface="Yu Gothic"/>
                <a:ea typeface="Yu Gothic"/>
                <a:cs typeface="Yu Gothic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91A5A2-A2F2-49C2-8E79-DC97CB9C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4267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第19章Stage 04へK7戦を明記する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265219-1DC1-45E0-BF16-51F14C50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228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98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231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B42318"/>
                </a:solidFill>
                <a:latin typeface="Yu Gothic"/>
                <a:ea typeface="Yu Gothic"/>
                <a:cs typeface="Yu Gothic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F322C6-F825-49F8-922A-6EBB81D2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14750"/>
            <a:ext cx="4267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第19章報酬をK8統合核と停止情報に分ける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0F6B4F-E364-4750-A7D2-0304A554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228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98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231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B42318"/>
                </a:solidFill>
                <a:latin typeface="Yu Gothic"/>
                <a:ea typeface="Yu Gothic"/>
                <a:cs typeface="Yu Gothic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394AB7-A1C3-4763-9836-E970C5B1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00550"/>
            <a:ext cx="4267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第3章は『初回撃破』ではなく『初回決着』の例外にする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BCEABD-5808-4A37-B11B-DA8FAEA4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66850"/>
            <a:ext cx="5715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ED"/>
          </a:solidFill>
          <a:ln xmlns:a="http://schemas.openxmlformats.org/drawingml/2006/main" w="9525">
            <a:solidFill>
              <a:srgbClr val="137A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D9F8C7-08A1-4928-9C8D-B8F1EB54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7A4A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37A4A"/>
                </a:solidFill>
                <a:latin typeface="Yu Gothic"/>
                <a:ea typeface="Yu Gothic"/>
                <a:cs typeface="Yu Gothic"/>
              </a:rPr>
              <a:t>技術責任者の確定範囲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6C7226-3C60-4E24-BC56-1C8F8CD4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228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98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7A4A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37A4A"/>
                </a:solidFill>
                <a:latin typeface="Yu Gothic"/>
                <a:ea typeface="Yu Gothic"/>
                <a:cs typeface="Yu Gothic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4EA2AD-ACE7-4D63-B943-4005B4AF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43150"/>
            <a:ext cx="4648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データID・装備枠・計算式・解放順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80E78C-F7AB-4492-9D18-8592AA18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28950"/>
            <a:ext cx="228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98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7A4A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37A4A"/>
                </a:solidFill>
                <a:latin typeface="Yu Gothic"/>
                <a:ea typeface="Yu Gothic"/>
                <a:cs typeface="Yu Gothic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095C91-977E-4AAC-B3E8-F2B1AA45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28950"/>
            <a:ext cx="4648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Unity LTS／URP／C#の基盤とオフライン境界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5CA538-8F87-4783-A78C-ED4468E4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228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98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7A4A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37A4A"/>
                </a:solidFill>
                <a:latin typeface="Yu Gothic"/>
                <a:ea typeface="Yu Gothic"/>
                <a:cs typeface="Yu Gothic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FEAD3D-2727-4CA6-84FC-097ADD6F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14750"/>
            <a:ext cx="4648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性能・セーブ・アクセシビリティ・プライバシー基準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AE8320-59E6-48E9-B69C-7D210A66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00550"/>
            <a:ext cx="228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98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7A4A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37A4A"/>
                </a:solidFill>
                <a:latin typeface="Yu Gothic"/>
                <a:ea typeface="Yu Gothic"/>
                <a:cs typeface="Yu Gothic"/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3339F5-BDEA-4C4F-94D6-0D3155D8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00550"/>
            <a:ext cx="4648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P0–P4の品質ゲートとP5オンライン分離</a:t>
            </a:r>
          </a:p>
        </p:txBody>
      </p:sp>
    </p:spTree>
    <p:extLst>
      <p:ext uri="{BB962C8B-B14F-4D97-AF65-F5344CB8AC3E}">
        <p14:creationId xmlns:p14="http://schemas.microsoft.com/office/powerpoint/2010/main" val="67336249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71B8B8-B381-4F77-AA98-EA0A4E9F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TECHNICAL HANDOFF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EFBC60-7DDA-46DF-B82D-267BC6FF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933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40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P0→P1を先に固定する。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E637FC-249D-4684-9044-40FCB018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62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入力感、武器相性、第1章、セーブを通せば、残りのコンテンツを安全に増やせる。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CEAF22-224C-40A4-9D5F-A6D78205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671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53C6BC-DAD9-42B7-9556-013E2A33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243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A6C5FE-8E78-4229-AAFA-AC59164D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434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プロデューサー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9803BF-056C-4A29-A75A-BC8171AF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5775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物語整合4点を決定し、統合版へ反映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0ED394-903F-430E-BA36-F1B06DC8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9243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82A755-D2E3-4FD3-98BF-46C78ECC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3434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技術責任者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AAF315-A712-4CBA-AF6C-A4D3E740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85775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要件ID・マスター仕様・P0受入試験を文書化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9E2986-A58B-46A5-BEA6-7FA11750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243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24F368-FF9B-4B31-8033-B75E2C52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434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開発チーム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829E7-A7F0-41A0-B927-390F3647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5775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P0戦闘プロトタイプを計測可能な状態で実装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3B1C97-A214-4BD5-9B03-660A22C3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912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提出: 3. 技術責任者  /  2026.08.20</a:t>
            </a:r>
          </a:p>
        </p:txBody>
      </p:sp>
    </p:spTree>
    <p:extLst>
      <p:ext uri="{BB962C8B-B14F-4D97-AF65-F5344CB8AC3E}">
        <p14:creationId xmlns:p14="http://schemas.microsoft.com/office/powerpoint/2010/main" val="3417946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2026-08-19T13:16:02.8330000Z</dcterms:created>
  <dcterms:modified xsi:type="dcterms:W3CDTF">2026-08-19T13:16:02.8330000Z</dcterms:modified>
</coreProperties>
</file>