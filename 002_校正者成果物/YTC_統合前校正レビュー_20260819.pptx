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1fe682fc074966" /><Relationship Type="http://schemas.openxmlformats.org/officeDocument/2006/relationships/extended-properties" Target="/docProps/app.xml" Id="Rc8f7416c92024942" /><Relationship Type="http://schemas.openxmlformats.org/officeDocument/2006/relationships/officeDocument" Target="/ppt/presentation.xml" Id="R635766eb62e440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50057853a04dea"/>
  </p:sldMasterIdLst>
  <p:notesMasterIdLst>
    <p:notesMasterId xmlns:r="http://schemas.openxmlformats.org/officeDocument/2006/relationships" r:id="R2cd03ab26d654203"/>
  </p:notesMasterIdLst>
  <p:sldIdLst>
    <p:sldId xmlns:r="http://schemas.openxmlformats.org/officeDocument/2006/relationships" id="256" r:id="R378e29a3876940ae"/>
    <p:sldId xmlns:r="http://schemas.openxmlformats.org/officeDocument/2006/relationships" id="257" r:id="R6cd39118994843ab"/>
    <p:sldId xmlns:r="http://schemas.openxmlformats.org/officeDocument/2006/relationships" id="258" r:id="Re3d3f8e37e184924"/>
    <p:sldId xmlns:r="http://schemas.openxmlformats.org/officeDocument/2006/relationships" id="259" r:id="R23f6807fc08d4590"/>
    <p:sldId xmlns:r="http://schemas.openxmlformats.org/officeDocument/2006/relationships" id="260" r:id="Ra44315d5e2c84cc7"/>
    <p:sldId xmlns:r="http://schemas.openxmlformats.org/officeDocument/2006/relationships" id="261" r:id="R61f2b352fc174973"/>
    <p:sldId xmlns:r="http://schemas.openxmlformats.org/officeDocument/2006/relationships" id="262" r:id="Rce8177e990be4d02"/>
    <p:sldId xmlns:r="http://schemas.openxmlformats.org/officeDocument/2006/relationships" id="263" r:id="Rf4d1918e9ea74417"/>
    <p:sldId xmlns:r="http://schemas.openxmlformats.org/officeDocument/2006/relationships" id="264" r:id="Raae1861b513a4982"/>
    <p:sldId xmlns:r="http://schemas.openxmlformats.org/officeDocument/2006/relationships" id="265" r:id="R7be43af133bb4c1c"/>
    <p:sldId xmlns:r="http://schemas.openxmlformats.org/officeDocument/2006/relationships" id="266" r:id="Re2ac2cfdac8f42af"/>
    <p:sldId xmlns:r="http://schemas.openxmlformats.org/officeDocument/2006/relationships" id="267" r:id="R5d3645206a3c48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4846f7394449f8" /><Relationship Type="http://schemas.openxmlformats.org/officeDocument/2006/relationships/slideMaster" Target="/ppt/slideMasters/slideMaster1.xml" Id="R3350057853a04dea" /><Relationship Type="http://schemas.openxmlformats.org/officeDocument/2006/relationships/notesMaster" Target="/ppt/notesMasters/notesMaster1.xml" Id="R2cd03ab26d654203" /><Relationship Type="http://schemas.openxmlformats.org/officeDocument/2006/relationships/presProps" Target="/ppt/presProps.xml" Id="R4830f2c2a6b54d33" /><Relationship Type="http://schemas.openxmlformats.org/officeDocument/2006/relationships/tableStyles" Target="/ppt/tableStyles.xml" Id="Ree2365ea42b848e4" /><Relationship Type="http://schemas.openxmlformats.org/officeDocument/2006/relationships/slide" Target="/ppt/slides/slide1.xml" Id="R378e29a3876940ae" /><Relationship Type="http://schemas.openxmlformats.org/officeDocument/2006/relationships/slide" Target="/ppt/slides/slide2.xml" Id="R6cd39118994843ab" /><Relationship Type="http://schemas.openxmlformats.org/officeDocument/2006/relationships/slide" Target="/ppt/slides/slide3.xml" Id="Re3d3f8e37e184924" /><Relationship Type="http://schemas.openxmlformats.org/officeDocument/2006/relationships/slide" Target="/ppt/slides/slide4.xml" Id="R23f6807fc08d4590" /><Relationship Type="http://schemas.openxmlformats.org/officeDocument/2006/relationships/slide" Target="/ppt/slides/slide5.xml" Id="Ra44315d5e2c84cc7" /><Relationship Type="http://schemas.openxmlformats.org/officeDocument/2006/relationships/slide" Target="/ppt/slides/slide6.xml" Id="R61f2b352fc174973" /><Relationship Type="http://schemas.openxmlformats.org/officeDocument/2006/relationships/slide" Target="/ppt/slides/slide7.xml" Id="Rce8177e990be4d02" /><Relationship Type="http://schemas.openxmlformats.org/officeDocument/2006/relationships/slide" Target="/ppt/slides/slide8.xml" Id="Rf4d1918e9ea74417" /><Relationship Type="http://schemas.openxmlformats.org/officeDocument/2006/relationships/slide" Target="/ppt/slides/slide9.xml" Id="Raae1861b513a4982" /><Relationship Type="http://schemas.openxmlformats.org/officeDocument/2006/relationships/slide" Target="/ppt/slides/slide10.xml" Id="R7be43af133bb4c1c" /><Relationship Type="http://schemas.openxmlformats.org/officeDocument/2006/relationships/slide" Target="/ppt/slides/slide11.xml" Id="Re2ac2cfdac8f42af" /><Relationship Type="http://schemas.openxmlformats.org/officeDocument/2006/relationships/slide" Target="/ppt/slides/slide12.xml" Id="R5d3645206a3c48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0f27f298a24d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96e7dfc9f34d4a" /><Relationship Type="http://schemas.openxmlformats.org/officeDocument/2006/relationships/notesMaster" Target="/ppt/notesMasters/notesMaster1.xml" Id="R6a644884e33e4b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82e10ca13d41fe" /><Relationship Type="http://schemas.openxmlformats.org/officeDocument/2006/relationships/notesMaster" Target="/ppt/notesMasters/notesMaster1.xml" Id="R234224caee2a46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2240a1d800427e" /><Relationship Type="http://schemas.openxmlformats.org/officeDocument/2006/relationships/notesMaster" Target="/ppt/notesMasters/notesMaster1.xml" Id="R59de1523715f43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58c22f92764d4d" /><Relationship Type="http://schemas.openxmlformats.org/officeDocument/2006/relationships/notesMaster" Target="/ppt/notesMasters/notesMaster1.xml" Id="R2ef44c570e1d48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9409348018404e" /><Relationship Type="http://schemas.openxmlformats.org/officeDocument/2006/relationships/notesMaster" Target="/ppt/notesMasters/notesMaster1.xml" Id="R989b798c18fd40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0947ea92b442a8" /><Relationship Type="http://schemas.openxmlformats.org/officeDocument/2006/relationships/notesMaster" Target="/ppt/notesMasters/notesMaster1.xml" Id="R80a98f94c26847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1e0f59fcea47fe" /><Relationship Type="http://schemas.openxmlformats.org/officeDocument/2006/relationships/notesMaster" Target="/ppt/notesMasters/notesMaster1.xml" Id="R8feee6818b864f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b678dface1448d" /><Relationship Type="http://schemas.openxmlformats.org/officeDocument/2006/relationships/notesMaster" Target="/ppt/notesMasters/notesMaster1.xml" Id="R89379445e9b643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861089586647cf" /><Relationship Type="http://schemas.openxmlformats.org/officeDocument/2006/relationships/notesMaster" Target="/ppt/notesMasters/notesMaster1.xml" Id="R500c9b92521f41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b46493675524ab5" /><Relationship Type="http://schemas.openxmlformats.org/officeDocument/2006/relationships/notesMaster" Target="/ppt/notesMasters/notesMaster1.xml" Id="R41761e863db1428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9a3e1420434508" /><Relationship Type="http://schemas.openxmlformats.org/officeDocument/2006/relationships/notesMaster" Target="/ppt/notesMasters/notesMaster1.xml" Id="R1be9cb161ae54ea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847cc2cfdfe4607" /><Relationship Type="http://schemas.openxmlformats.org/officeDocument/2006/relationships/notesMaster" Target="/ppt/notesMasters/notesMaster1.xml" Id="R963158fe47ad44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D:\05_codex\02_game\000_エージェント共有読み物\01_タスク.txt</a:t>
            </a:r>
          </a:p>
          <a:p xmlns:a="http://schemas.openxmlformats.org/drawingml/2006/main">
            <a:r>
              <a:t>- D:\05_codex\02_game\001_設定資料\DOCUMENT_REVIEW_SUMMARY.md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D:\05_codex\02_game\001_設定資料\DOCUMENT_REVIEW_SUMMARY.md</a:t>
            </a:r>
          </a:p>
          <a:p xmlns:a="http://schemas.openxmlformats.org/drawingml/2006/main">
            <a:r>
              <a:t>- D:\05_codex\02_game\002_スライド\03_技術責任者_技術要件定義_v1.pptx</a:t>
            </a:r>
          </a:p>
          <a:p xmlns:a="http://schemas.openxmlformats.org/drawingml/2006/main">
            <a:r>
              <a:t>- D:\05_codex\02_game\002_緊急タスク成果物\07_ストーリー作成者_ストーリー設定確定案.pptx</a:t>
            </a:r>
          </a:p>
          <a:p xmlns:a="http://schemas.openxmlformats.org/drawingml/2006/main">
            <a:r>
              <a:t>- D:\05_codex\02_game\_pptx_build\deck_plan.txt</a:t>
            </a:r>
          </a:p>
          <a:p xmlns:a="http://schemas.openxmlformats.org/drawingml/2006/main">
            <a:r>
              <a:t>- D:\05_codex\02_game\_pptx_build\build_deck.mjs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D:\05_codex\02_game\001_設定資料\00_INDEX.md</a:t>
            </a:r>
          </a:p>
          <a:p xmlns:a="http://schemas.openxmlformats.org/drawingml/2006/main">
            <a:r>
              <a:t>- D:\05_codex\02_game\001_設定資料\01_Story_20_Chapters.md</a:t>
            </a:r>
          </a:p>
          <a:p xmlns:a="http://schemas.openxmlformats.org/drawingml/2006/main">
            <a:r>
              <a:t>- D:\05_codex\02_game\001_設定資料\02_Characters.md</a:t>
            </a:r>
          </a:p>
          <a:p xmlns:a="http://schemas.openxmlformats.org/drawingml/2006/main">
            <a:r>
              <a:t>- D:\05_codex\02_game\001_設定資料\12_ID_and_Terminology.md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D:\05_codex\02_game\001_設定資料\01_Story_20_Chapters.md</a:t>
            </a:r>
          </a:p>
          <a:p xmlns:a="http://schemas.openxmlformats.org/drawingml/2006/main">
            <a:r>
              <a:t>- D:\05_codex\02_game\001_設定資料\00_INDEX.md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D:\05_codex\02_game\001_設定資料\00_INDEX.md</a:t>
            </a:r>
          </a:p>
          <a:p xmlns:a="http://schemas.openxmlformats.org/drawingml/2006/main">
            <a:r>
              <a:t>- D:\05_codex\02_game\001_設定資料\09_Game_Rules.md</a:t>
            </a:r>
          </a:p>
          <a:p xmlns:a="http://schemas.openxmlformats.org/drawingml/2006/main">
            <a:r>
              <a:t>- D:\05_codex\02_game\001_設定資料\06_Loot_and_Items.md</a:t>
            </a:r>
          </a:p>
          <a:p xmlns:a="http://schemas.openxmlformats.org/drawingml/2006/main">
            <a:r>
              <a:t>- D:\05_codex\02_game\001_設定資料\11_Producer_Direction.md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D:\05_codex\02_game\002_スライド\03_技術責任者_技術要件定義_v1.pptx</a:t>
            </a:r>
          </a:p>
          <a:p xmlns:a="http://schemas.openxmlformats.org/drawingml/2006/main">
            <a:r>
              <a:t>- D:\05_codex\02_game\_pptx_build\deck_plan.txt</a:t>
            </a:r>
          </a:p>
          <a:p xmlns:a="http://schemas.openxmlformats.org/drawingml/2006/main">
            <a:r>
              <a:t>- D:\05_codex\02_game\_pptx_build\build_deck.mjs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D:\05_codex\02_game\002_スライド\03_技術責任者_技術要件定義_v1.pptx</a:t>
            </a:r>
          </a:p>
          <a:p xmlns:a="http://schemas.openxmlformats.org/drawingml/2006/main">
            <a:r>
              <a:t>- D:\05_codex\02_game\_pptx_build\build_deck.mjs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D:\05_codex\02_game\001_設定資料\DOCUMENT_REVIEW_SUMMARY.md</a:t>
            </a:r>
          </a:p>
          <a:p xmlns:a="http://schemas.openxmlformats.org/drawingml/2006/main">
            <a:r>
              <a:t>- D:\05_codex\02_game\002_スライド\03_技術責任者_技術要件定義_v1.pptx</a:t>
            </a:r>
          </a:p>
          <a:p xmlns:a="http://schemas.openxmlformats.org/drawingml/2006/main">
            <a:r>
              <a:t>- D:\05_codex\02_game\_pptx_build\build_deck.mjs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D:\05_codex\02_game\001_設定資料\DOCUMENT_REVIEW_SUMMARY.md</a:t>
            </a:r>
          </a:p>
          <a:p xmlns:a="http://schemas.openxmlformats.org/drawingml/2006/main">
            <a:r>
              <a:t>- D:\05_codex\02_game\001_設定資料\01_Story_20_Chapters.md</a:t>
            </a:r>
          </a:p>
          <a:p xmlns:a="http://schemas.openxmlformats.org/drawingml/2006/main">
            <a:r>
              <a:t>- D:\05_codex\02_game\_pptx_build\deck_plan.txt</a:t>
            </a:r>
          </a:p>
          <a:p xmlns:a="http://schemas.openxmlformats.org/drawingml/2006/main">
            <a:r>
              <a:t>- D:\05_codex\02_game\_pptx_build\build_deck.mjs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D:\05_codex\02_game\002_スライド\03_技術責任者_技術要件定義_v1.pptx</a:t>
            </a:r>
          </a:p>
          <a:p xmlns:a="http://schemas.openxmlformats.org/drawingml/2006/main">
            <a:r>
              <a:t>- D:\05_codex\02_game\_pptx_build\deck_plan.txt</a:t>
            </a:r>
          </a:p>
          <a:p xmlns:a="http://schemas.openxmlformats.org/drawingml/2006/main">
            <a:r>
              <a:t>- D:\05_codex\02_game\_pptx_build\build_deck.mjs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D:\05_codex\02_game\000_エージェント共有読み物\01_タスク.txt</a:t>
            </a:r>
          </a:p>
          <a:p xmlns:a="http://schemas.openxmlformats.org/drawingml/2006/main">
            <a:r>
              <a:t>- D:\05_codex\02_game\002_スライド\03_技術責任者_技術要件定義_v1.pptx</a:t>
            </a:r>
          </a:p>
          <a:p xmlns:a="http://schemas.openxmlformats.org/drawingml/2006/main">
            <a:r>
              <a:t>- D:\05_codex\02_game\_pptx_build\deck_plan.txt</a:t>
            </a:r>
          </a:p>
          <a:p xmlns:a="http://schemas.openxmlformats.org/drawingml/2006/main">
            <a:r>
              <a:t>- D:\05_codex\02_game\_pptx_build\build_deck.mjs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D:\05_codex\02_game\000_エージェント共有読み物\01_タスク.txt</a:t>
            </a:r>
          </a:p>
          <a:p xmlns:a="http://schemas.openxmlformats.org/drawingml/2006/main">
            <a:r>
              <a:t>- D:\05_codex\02_game\002_スライド\03_技術責任者_技術要件定義_v1.pptx</a:t>
            </a:r>
          </a:p>
          <a:p xmlns:a="http://schemas.openxmlformats.org/drawingml/2006/main">
            <a:r>
              <a:t>- D:\05_codex\02_game\_pptx_build\deck_plan.txt</a:t>
            </a:r>
          </a:p>
          <a:p xmlns:a="http://schemas.openxmlformats.org/drawingml/2006/main">
            <a:r>
              <a:t>- D:\05_codex\02_game\_pptx_build\build_deck.mjs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1b5dcefb5f4c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ca9166636941c0" /><Relationship Type="http://schemas.openxmlformats.org/officeDocument/2006/relationships/slideLayout" Target="/ppt/slideLayouts/slideLayout1.xml" Id="R2a33cfd8f54c43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33cfd8f54c43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6e469a284d4959" /><Relationship Type="http://schemas.openxmlformats.org/officeDocument/2006/relationships/notesSlide" Target="/ppt/notesSlides/notesSlide1.xml" Id="R6fbea558e22d44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36baee6564557" /><Relationship Type="http://schemas.openxmlformats.org/officeDocument/2006/relationships/notesSlide" Target="/ppt/notesSlides/notesSlide2.xml" Id="R1681f107d77545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e0af30c7843d1" /><Relationship Type="http://schemas.openxmlformats.org/officeDocument/2006/relationships/notesSlide" Target="/ppt/notesSlides/notesSlide3.xml" Id="R8b70b32b91c74c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27477efcb48bb" /><Relationship Type="http://schemas.openxmlformats.org/officeDocument/2006/relationships/notesSlide" Target="/ppt/notesSlides/notesSlide4.xml" Id="R6d6e8af872824b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1e4bd8dc34ead" /><Relationship Type="http://schemas.openxmlformats.org/officeDocument/2006/relationships/notesSlide" Target="/ppt/notesSlides/notesSlide5.xml" Id="R717b488a69d049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e47e833f164627" /><Relationship Type="http://schemas.openxmlformats.org/officeDocument/2006/relationships/notesSlide" Target="/ppt/notesSlides/notesSlide6.xml" Id="R983327f535384d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5a068e689f40bc" /><Relationship Type="http://schemas.openxmlformats.org/officeDocument/2006/relationships/notesSlide" Target="/ppt/notesSlides/notesSlide7.xml" Id="Rdaf93c6ee17e46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c9ffc9f3844b03" /><Relationship Type="http://schemas.openxmlformats.org/officeDocument/2006/relationships/notesSlide" Target="/ppt/notesSlides/notesSlide8.xml" Id="Re1a394e05bb446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7a6da94f34902" /><Relationship Type="http://schemas.openxmlformats.org/officeDocument/2006/relationships/notesSlide" Target="/ppt/notesSlides/notesSlide9.xml" Id="Rc31152483d4e469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b1e776cf444cc" /><Relationship Type="http://schemas.openxmlformats.org/officeDocument/2006/relationships/notesSlide" Target="/ppt/notesSlides/notesSlide10.xml" Id="R1bb5b0642ac44f1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d50e280992432a" /><Relationship Type="http://schemas.openxmlformats.org/officeDocument/2006/relationships/notesSlide" Target="/ppt/notesSlides/notesSlide11.xml" Id="R0b5361026d6541a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97dcd675c428d" /><Relationship Type="http://schemas.openxmlformats.org/officeDocument/2006/relationships/notesSlide" Target="/ppt/notesSlides/notesSlide12.xml" Id="Rc54e50c8aae141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36761A-4713-4EDE-B7A1-CA77669C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YTC GAME / 校正者成果物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BB6025-E9DB-4309-B769-E7CBBF4E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8763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5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統合前</a:t>
            </a:r>
          </a:p>
          <a:p xmlns:a="http://schemas.openxmlformats.org/drawingml/2006/main">
            <a:pPr algn="l">
              <a:buNone/>
              <a:defRPr sz="5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5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校正レビュー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5FDA57-0051-49FE-BB7A-EDD9330B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正典・要件・不整合を一つの判断材料へ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25387F-92C8-49CA-94F6-8A06A1EB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2026/08/19  |  締切 2026/08/20 7:30 JST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CDC32-7B08-4611-84C8-611B729C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0"/>
            <a:ext cx="1333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871576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EA9AD4-D733-461D-8C1E-6F9730DD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YTC GAME / PROOFREADING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B71AA7-2977-4FDC-9DBF-33818E84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物語は決着。技術方式とGate 0を閉じる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BB539D-0A74-406F-B1AE-21D43DAB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9C1034-746E-41CB-B011-79635630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142430-DBD3-446C-ABA4-7329A228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203454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4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CF522-9062-4EB4-BEC6-05013E44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203454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628CB6-36D4-4158-8449-E7D960B3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76600"/>
            <a:ext cx="203454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全編完結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355E33-8FC7-4BF4-8FE3-D8F36F13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440" y="20193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EF2571-205F-4EF3-A2E6-BAF04C41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1924050"/>
            <a:ext cx="203454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4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23423B-4EF5-4DD9-8885-928F81CA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2800350"/>
            <a:ext cx="203454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目標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549C0-8757-48FB-AA6F-7A43212B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3276600"/>
            <a:ext cx="203454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品質優先で削減可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D4F95-B777-412C-A083-8639E955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0193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3CB642-01CF-4404-B32A-C6DE1269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730" y="1924050"/>
            <a:ext cx="203454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4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23270A-AC2C-4090-95E3-E34F38D6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730" y="2800350"/>
            <a:ext cx="203454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D65B1B-963E-4812-9E32-2B73B56F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730" y="3276600"/>
            <a:ext cx="203454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全員生存が正史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B25CD7-9834-4FD1-A238-5107D1CC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8520" y="20193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4EDC91-A11E-47F1-9751-9A3D5348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3770" y="1924050"/>
            <a:ext cx="203454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4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27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C6E8C4-AA6B-4905-BC1E-00483F60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3770" y="2800350"/>
            <a:ext cx="203454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03D354-61D9-4764-B081-A60B96E7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3770" y="3276600"/>
            <a:ext cx="203454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既存レビュー指摘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50755C-9C86-4F80-AD89-93F0ACC8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560" y="20193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35080A-51A4-4B1B-846D-040697B5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810" y="1924050"/>
            <a:ext cx="203454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C7352C"/>
                </a:solidFill>
                <a:latin typeface="Yu Gothic"/>
                <a:ea typeface="Yu Gothic"/>
                <a:cs typeface="Yu Gothic"/>
              </a:defRPr>
            </a:pPr>
            <a:r>
              <a:rPr sz="4650" b="1">
                <a:solidFill>
                  <a:srgbClr val="C7352C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C4F670-290F-4AB5-89A4-FCB80D6C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810" y="2800350"/>
            <a:ext cx="203454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BAF8A6-F122-4412-9926-0B03ECFE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810" y="3276600"/>
            <a:ext cx="203454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技術・要決定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FE8496-349E-4428-BD91-FF3828BB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48200"/>
            <a:ext cx="11125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EA704B-9383-40F3-8C3E-93595B7D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387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結論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74EC8D-583A-45E0-ABB6-BCDFCCF2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0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物語上の主要判断は統合ビルド案で決着。残る統合リスクは、Unity／Unrealの技術方式と、数式・データ・K1系のGate 0三群に集中する。</a:t>
            </a:r>
          </a:p>
        </p:txBody>
      </p:sp>
    </p:spTree>
    <p:extLst>
      <p:ext uri="{BB962C8B-B14F-4D97-AF65-F5344CB8AC3E}">
        <p14:creationId xmlns:p14="http://schemas.microsoft.com/office/powerpoint/2010/main" val="12548619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0BCFAF-A7FA-4405-9931-650ED848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YTC GAME / PROOFREADING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D4951-AE2C-417D-8F10-59869C31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安全に統合できる正典はすでに揃っている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0E8FBD-5DBD-4475-8368-FC298782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DBBE56-4CF3-4B9D-95C2-466EFAAB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16AF6-F99C-4297-8B56-A22D7C1F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作品の一文説明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09537D-9DA7-425E-9BCE-C6150552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542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小規模PMC「ytc」の山田がK1を預かったことから、戦争を商品化するORPHEUS計画へ巻き込まれ、守る相手の顔を見て会社の価値を選び取る2.5D装備収集アクション。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907581-DD4E-4FB3-99EC-E3A2D4AA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752600"/>
            <a:ext cx="0" cy="373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AAE0E4-5F18-4018-8F63-C057B68E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52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固定してよい事実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9A9554-303D-4FC8-914D-0F123FF4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90750"/>
            <a:ext cx="4762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• 西暦2091年。PMCが社会インフラを担う近未来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• 主人公は32歳の山田。最後までK1の操縦者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• K1の拒否核LARKが不正命令の証明と停止鍵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• 黒幕は真壁宗一。物流網はBLACK RAIL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• 美緒は救助対象であり、自ら動く安全技術者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• 最終章でORPHEUS停止・真壁逮捕・ytc名誉回復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• ytcの15名全員が生存する正史</a:t>
            </a:r>
          </a:p>
        </p:txBody>
      </p:sp>
    </p:spTree>
    <p:extLst>
      <p:ext uri="{BB962C8B-B14F-4D97-AF65-F5344CB8AC3E}">
        <p14:creationId xmlns:p14="http://schemas.microsoft.com/office/powerpoint/2010/main" val="8477632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B39B09-4F6C-4674-8B65-E7091FBE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YTC GAME / PROOFREADING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0F87E0-038F-4F28-B5DB-52D58541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全20章は五幕で一本の因果へつながる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CE994-6077-4459-B913-EFB52E8E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E7BF6-E9D3-4D5D-8FAA-66167CE1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9B3B9C-CD3C-49CB-B94A-205ACFFF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33675"/>
            <a:ext cx="10629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6DFB4-3D82-4691-AED3-07667182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4A7063-9F31-4FD4-A080-C06257E7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19278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1–4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2926F-0F0E-40A6-98A7-527EC2FC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19278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拾った火種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320A00-33FC-40A1-B0DD-5336D9CC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192786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K1試験→不正弾→誘拐→空振りの救出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91CC13-730D-4B2A-9AFE-90D9E88C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26098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D86E44-D105-4410-92B1-6542951D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2000250"/>
            <a:ext cx="19278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5–8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676235-FDA8-42F4-8C32-D7F1A6EF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3105150"/>
            <a:ext cx="19278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黒い流通網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CC0236-9DF2-4F5E-9F94-53B8548D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3714750"/>
            <a:ext cx="192786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地下線・港・雪山を追い、ORPHEUS名へ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6A1661-0BA1-43BC-9453-844CB096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070" y="26098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3C46C8-C05E-48A5-9470-B6351BD7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070" y="2000250"/>
            <a:ext cx="19278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9–12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43BB2B-2E00-401A-80C7-436D1B42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070" y="3105150"/>
            <a:ext cx="19278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鎧の値段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FB13C1-19C7-44AE-B6C6-0349E93A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070" y="3714750"/>
            <a:ext cx="192786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K1停止→濡れ衣→15人で本社防衛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478348-4A0D-47B8-983B-6B7FB1BF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26098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C58674-8FDC-4E18-AFC1-6753AB1D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2000250"/>
            <a:ext cx="19278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13–16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5A85B8-F1C3-47B0-A839-F65A640D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3105150"/>
            <a:ext cx="19278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誰に届けるか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0E3DAC-4D9F-4701-8D0C-3F1CB779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3714750"/>
            <a:ext cx="192786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同盟・美緒救出・民間人保護で信用回復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5C96EF-8E09-4958-A732-13803C21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26098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D87562-2E18-4B08-A89F-7EA547B6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2000250"/>
            <a:ext cx="19278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17–20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E86BE0-1CD8-4460-ABDC-454661A1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3105150"/>
            <a:ext cx="19278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明日を届ける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24E03E-543F-48B1-B7AB-062132EC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3714750"/>
            <a:ext cx="192786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物流停止→蜂起阻止→K系譜→最終停止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B33301-A6DF-4B7B-9D1D-CABF6828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因果の芯：兵器の不正流通 → 戦争需要の生成 → 人間の拒否権を残すLARKで停止</a:t>
            </a:r>
          </a:p>
        </p:txBody>
      </p:sp>
    </p:spTree>
    <p:extLst>
      <p:ext uri="{BB962C8B-B14F-4D97-AF65-F5344CB8AC3E}">
        <p14:creationId xmlns:p14="http://schemas.microsoft.com/office/powerpoint/2010/main" val="10697122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68C4F5-B252-4276-BA09-2504DB85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YTC GAME / PROOFREADING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9C265-B224-49F3-85AA-2E3E888C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戦う・持ち帰る・選び直すが物語と接続する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CE0AEB-F8A2-469B-9EB7-60EA41B0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61912D-1304-4E96-8574-DCA5DDEA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8F248A-561B-41A9-BBA2-78B0401A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プレイヤーの循環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4B732-7AB0-4D71-B026-6E850896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— 出撃前：環境タグを読み、装備を選ぶ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— 戦闘中：射撃と近接を切り替える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— 任務後：装備・素材・証拠を回収する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— 帰還後：強化・売却・証拠解析を選ぶ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— 会話と証拠ボードが次章の意味を更新する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2BCF37-46C8-4E9C-807E-895748D1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621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体験を守る五本柱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F67168-1441-4F74-8180-9B829138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4790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— 二つの距離：射撃と近接の役割差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— 環境攻略：寒冷・熱・電磁への装備回答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— 戦利品＝成長素材＋事件の証拠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— 15人だから顔が見える支援と日常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— 民間人を守るほど長期成果が高い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9EF5B5-5531-40BD-9F27-51476A22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33950"/>
            <a:ext cx="11125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398EF6-DDC5-4E36-AB24-0FEAB2EF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校正判定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9DA3A0-405D-4D88-AAE6-FF2098D4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76825"/>
            <a:ext cx="925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ストーリーとゲームループの対応は整合。破綻は個別仕様の定義差に集中している。</a:t>
            </a:r>
          </a:p>
        </p:txBody>
      </p:sp>
    </p:spTree>
    <p:extLst>
      <p:ext uri="{BB962C8B-B14F-4D97-AF65-F5344CB8AC3E}">
        <p14:creationId xmlns:p14="http://schemas.microsoft.com/office/powerpoint/2010/main" val="216975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560455-73A5-47CF-A5FF-5C27822E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YTC GAME / PROOFREADING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0EA30D-2588-4116-8C69-E2701A37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想定技術が二分。統合前に一本化する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897486-F72C-4911-8A06-6502B44F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24A412-A9D3-437A-904E-55B1769D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F8A991-0FCF-4B8C-B115-77A077D4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529590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E2E25B-D767-416A-8CD5-4108E937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52600"/>
            <a:ext cx="529590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31CC45-2632-411D-B733-5650BC17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技術責任者成果物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F02A0C-2704-4D1F-A762-9D49D95D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4762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• Unity LTS／URP／C#、Windows PC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• Addressables＋データ駆動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• Git・Git LFS・GitHub Actions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• 原子的保存・世代管理・破損検知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• P0–P4オフライン、協力はP5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• 時間基準の入力・物理・判定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• ID・数式・セーブ移行をCI検証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134C80-BDD8-48B3-9EAA-C8B98914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002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統合ビルド案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3959B0-294F-4CA5-9471-5A724DF8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43175"/>
            <a:ext cx="4762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• Unreal Engine 5安定版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• C++＋Blueprint、GASは状態へ限定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• Primary Data Asset／Data Table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• バージョン付き原子的SaveGame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• 1ステージ1マップ＋限定奥行きレーン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• 本編オフライン、協力はP5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• 『技術責任者採択案』として記載</a:t>
            </a:r>
          </a:p>
        </p:txBody>
      </p:sp>
    </p:spTree>
    <p:extLst>
      <p:ext uri="{BB962C8B-B14F-4D97-AF65-F5344CB8AC3E}">
        <p14:creationId xmlns:p14="http://schemas.microsoft.com/office/powerpoint/2010/main" val="4401306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BA6DBD-AA9D-460B-9A52-4ECC4FB5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YTC GAME / PROOFREADING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575B07-87EE-4864-9DEB-17DFF21D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非機能要件は整合。ロード基準だけを整理する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A05B31-5432-4D00-89EB-C71F96E6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F7DDCA-6AF8-4EF3-B391-1E3134C0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07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476750"/>
                <a:gridCol w="4933950"/>
              </a:tblGrid>
              <a:tr h="5143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領域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技術責任者成果物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統合ビルド案／校正判定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性能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1080p/60fps・16.7ms、最低30fps・33.3ms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同値。時間基準も一致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ロード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ボス再戦30秒以内、SSD読込15秒目標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初回15秒・CP再開5秒。区間を統一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信頼性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原子的保存・世代バックアップ・破損検知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同値。移行処理も一致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オフライン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P0–P4を完全オフライン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本編オフライン・協力P5で一致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復帰性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落下・挟まり・護衛停止から復帰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同値。共通復帰として記載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プライバシー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テレメトリはオプトイン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匿名・任意・目的明示で整合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CI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ID・数式・データ・セーブ移行を検証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同値。全ステージ検査を追加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89576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5F4F42-777D-415D-B5E9-9108BFB8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YTC GAME / PROOFREADING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DF807-7399-46AF-9F7E-5884FF95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技術決定の状態が二分。採否記録を一本化する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D29069-AF13-46BD-AAC8-32D1C035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B56AEA-4B93-42B0-8CCE-C6DD1DA8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08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33400" y="1695450"/>
          <a:ext xmlns:a="http://schemas.openxmlformats.org/drawingml/2006/main" cx="11125200" cy="4305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3429000"/>
                <a:gridCol w="4095750"/>
                <a:gridCol w="1885950"/>
              </a:tblGrid>
              <a:tr h="47836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論点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技術責任者成果物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統合ビルド案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校正判定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478367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STAT倍率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現行式、STAT150≈1.11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Gate 0未確定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状態衝突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8367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継続DPS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射撃間隔＋リロード込み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DPS帯をGate 0へ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状態衝突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478367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アイテムID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分類別ID、ITMは抽象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ITM接頭辞をGate 0へ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状態衝突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8367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装備枠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戦術2枠＝CON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参照関係をGate 0へ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状態衝突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478367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蘇生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ソロCP復帰、蘇生はP5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ソロ蘇生をGate 0へ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状態衝突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8367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K1コスト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100→110→125→140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K1コストをGate 0へ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状態衝突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478367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貫通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全補正後0–100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貫通・刺突をGate 0へ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状態衝突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8367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E14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電撃／衝撃＋Penetration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刺突をGate 0へ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状態衝突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34248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A0AAB1-0A60-44D8-8483-2F6BE4E7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YTC GAME / PROOFREADING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349A3C-A158-437C-BC2A-7120D3F9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物語と解放時期は統合ビルド案で決着済み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8ECB98-7911-461C-9024-4F967A9C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A305D-52D8-4903-B8DF-4BCFF032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09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33400" y="1695450"/>
          <a:ext xmlns:a="http://schemas.openxmlformats.org/drawingml/2006/main" cx="11125200" cy="4305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3905250"/>
                <a:gridCol w="5314950"/>
              </a:tblGrid>
              <a:tr h="47836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論点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プロデューサー確定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校正判定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478367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第五都市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鏡浜居住区／避難・通信中継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詳細資料へ新規転記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8367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K7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第19章Stage 04前半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章・敵・Stage表を同期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478367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第19章報酬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K8統合核→アーク座標→停止コード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取得順を全表へ反映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8367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第3章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追跡任務の初回決着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通常敗北・評価低下と区別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478367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第13章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山田を正式な現場リーダーへ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役職・会話表現を統一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8367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序盤解放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貸与フレア／EMP／知識→恒常解放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章別解放表へ転記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  <a:tr h="478367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LARKスキャン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第16章内暫定、章後恒常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技術・物語案が一致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8367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100ステージ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品質優先で削減可能な目標値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Yu Gothic"/>
                          <a:ea typeface="Yu Gothic"/>
                          <a:cs typeface="Yu Gothic"/>
                        </a:rPr>
                        <a:t>固定要件表現を修正</a:t>
                      </a:r>
                    </a:p>
                  </a:txBody>
                  <a:tcPr marL="91440" marR="91440" marT="45720" marB="45720"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94748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FB7940-93D5-4F24-A8DC-03F1D98F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YTC GAME / PROOFREADING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6B75C1-884C-48CE-8612-F596177C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物語決定を正典へ転記し、技術4点だけをGate 0へ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D27080-ACD0-4ED3-8653-629CBFD2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268DBC-CC3D-4772-A5B1-A0965377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685E9D-8480-42EE-8817-BCCCCC65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プロデューサー確定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AC91DF-06A0-4171-A50F-2A2D1066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52387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• 第五都市は鏡浜居住区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• 第19章Stage 04にK7戦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• K8統合核→アーク座標→停止コード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• 第3章は追跡任務の初回決着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• 第13章以降、山田は現場リーダー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• フレア・EMP・ロケットの解放順を確定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• LARKスキャンは第16章内暫定、章後恒常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• 100ステージは品質優先の目標値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611D0E-6631-48A3-B9BC-2E06005D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52600"/>
            <a:ext cx="0" cy="396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FAC57C-013B-43E1-82B4-CCC44A36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526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技術Gate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2A56D8-94A4-40EA-8018-54B7C264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09800"/>
            <a:ext cx="5143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• 技術方式：Unity／URPかUnreal 5／GASか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• 数式：STAT・DPS・貫通・刺突・部位倍率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• データ：ITM・装備参照・組織／勢力ID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• K1系：コスト・環境枠・ソロ蘇生・JET_EFF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• 技術成果物と統合ビルドの状態差を解消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• 決裁後に機能・NFR・工程・出典を一括更新</a:t>
            </a:r>
          </a:p>
        </p:txBody>
      </p:sp>
    </p:spTree>
    <p:extLst>
      <p:ext uri="{BB962C8B-B14F-4D97-AF65-F5344CB8AC3E}">
        <p14:creationId xmlns:p14="http://schemas.microsoft.com/office/powerpoint/2010/main" val="5903670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E18FD4-51BD-4E31-8454-B99C3105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YTC GAME / PROOFREADING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7BA84D-9DC3-4D3B-83E1-0B372A48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統合前に三つのゲートだけを通す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9A7F3A-0E99-434F-892B-6FE94C0A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6BBFBA-CB79-4C21-906B-17E3E4CD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527D7D-2FC0-4100-B0E7-7C832A18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7EEEB0-8B7F-438D-992B-FE35C536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72EE61-88A6-4E26-91D1-F80BDC46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GATE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FE39E8-7814-45F7-BC26-CE4A0A64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技術方式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4BC99D-2F23-41A5-A876-F2F708F9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Unity／URPかUnreal 5／GASかを技術責任者が確定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077ECD-A3B0-43C8-82E6-C209A7A1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19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452F7A-6813-498D-82D7-88AF8E81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28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GATE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F7F611-3D20-49C9-9463-4EB66CFC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290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Gate 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BA2453-A543-41CD-ABEC-D57386F2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000500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数式・データ・K1系の三群を責任者付きで確定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227BC4-49F5-4B2E-B605-792AE275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19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5D1E8F-20D4-4BC3-B7D9-8E2FB4DA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28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GATE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73399D-2B08-4E7F-99B1-7E668208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290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横断校正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109074-06B7-44AD-810C-02110337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00500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物語決定を章・敵・報酬・解放・INDEXへ反映後に再照合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8575AA-F46E-497B-B717-306833BC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1125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BA04C9-6B0B-4FD8-BFEB-5DE8D3B4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70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完了条件：技術方式が単一回答、Gate 0が完了、物語決定が全正典へ反映されること</a:t>
            </a:r>
          </a:p>
        </p:txBody>
      </p:sp>
    </p:spTree>
    <p:extLst>
      <p:ext uri="{BB962C8B-B14F-4D97-AF65-F5344CB8AC3E}">
        <p14:creationId xmlns:p14="http://schemas.microsoft.com/office/powerpoint/2010/main" val="306106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609C51-BD53-49C3-B26B-A91C26AC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5F6368"/>
                </a:solidFill>
                <a:latin typeface="Yu Gothic"/>
                <a:ea typeface="Yu Gothic"/>
                <a:cs typeface="Yu Gothic"/>
              </a:rPr>
              <a:t>INTEGRATION CONDITION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2DE29C-88BB-45D7-B4B4-FF2AC14E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93345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45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三条件を閉じれば、</a:t>
            </a:r>
          </a:p>
          <a:p xmlns:a="http://schemas.openxmlformats.org/drawingml/2006/main">
            <a:pPr algn="l">
              <a:buNone/>
              <a:defRPr sz="45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45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統合スライドは一本になる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6A06EE-DEDD-474D-8363-F2A60287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76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8BE55D-8916-4A07-B901-D2B4982E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1A9BF1-6D88-45BA-BE13-F9928E44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957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Unity／Unrealを一本化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90A37C-E1CB-49DF-9780-383F444B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957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4D1C9E-0F59-4574-BA90-36696EF2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09575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技術Gate 0を確定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F90CFC-CF82-4310-BC08-F06ABEF8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957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5EE3D6-2818-467B-A235-B32CA31A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957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物語決定を正典へ反映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1DE6F5-1B56-49FA-9B61-6D3076E6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10200"/>
            <a:ext cx="11125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E89BF0-C528-4365-8532-61A41F6C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61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校正者判定：条件付きで統合可能</a:t>
            </a:r>
          </a:p>
        </p:txBody>
      </p:sp>
    </p:spTree>
    <p:extLst>
      <p:ext uri="{BB962C8B-B14F-4D97-AF65-F5344CB8AC3E}">
        <p14:creationId xmlns:p14="http://schemas.microsoft.com/office/powerpoint/2010/main" val="1219103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2026-08-19T13:34:15.1030000Z</dcterms:created>
  <dcterms:modified xsi:type="dcterms:W3CDTF">2026-08-19T13:34:15.1030000Z</dcterms:modified>
</coreProperties>
</file>